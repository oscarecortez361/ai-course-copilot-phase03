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alpha val="0"/>
          </a:srgbClr>
        </a:solidFill>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6.png" Type="http://schemas.openxmlformats.org/officeDocument/2006/relationships/image"/><Relationship Id="rId5"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2" Target="../media/image1.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3.png" Type="http://schemas.openxmlformats.org/officeDocument/2006/relationships/image"/><Relationship Id="rId6" Target="../media/image11.png" Type="http://schemas.openxmlformats.org/officeDocument/2006/relationships/image"/><Relationship Id="rId7" Target="../media/image18.png" Type="http://schemas.openxmlformats.org/officeDocument/2006/relationships/image"/><Relationship Id="rId8" Target="../media/image6.png" Type="http://schemas.openxmlformats.org/officeDocument/2006/relationships/image"/><Relationship Id="rId9"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pic>
        <p:nvPicPr>
          <p:cNvPr name="Picture 4" id="4"/>
          <p:cNvPicPr>
            <a:picLocks noChangeAspect="true"/>
          </p:cNvPicPr>
          <p:nvPr/>
        </p:nvPicPr>
        <p:blipFill>
          <a:blip r:embed="rId3"/>
          <a:srcRect t="1000" b="1000"/>
          <a:stretch>
            <a:fillRect/>
          </a:stretch>
        </p:blipFill>
        <p:spPr>
          <a:xfrm>
            <a:off x="0" y="0"/>
            <a:ext cx="16256000" cy="9144000"/>
          </a:xfrm>
          <a:prstGeom prst="rect">
            <a:avLst/>
          </a:prstGeom>
        </p:spPr>
      </p:pic>
      <p:sp>
        <p:nvSpPr>
          <p:cNvPr name="AutoShape 5" id="5"/>
          <p:cNvSpPr/>
          <p:nvPr/>
        </p:nvSpPr>
        <p:spPr>
          <a:xfrm>
            <a:off x="0" y="0"/>
            <a:ext cx="16256000" cy="9144000"/>
          </a:xfrm>
          <a:prstGeom prst="rect">
            <a:avLst/>
          </a:prstGeom>
          <a:solidFill>
            <a:srgbClr val="000000">
              <a:alpha val="0"/>
            </a:srgbClr>
          </a:solidFill>
        </p:spPr>
      </p:sp>
      <p:sp>
        <p:nvSpPr>
          <p:cNvPr name="TextBox 6" id="6"/>
          <p:cNvSpPr txBox="true"/>
          <p:nvPr/>
        </p:nvSpPr>
        <p:spPr>
          <a:xfrm>
            <a:off x="876300" y="2946400"/>
            <a:ext cx="14490700" cy="1511300"/>
          </a:xfrm>
          <a:prstGeom prst="rect">
            <a:avLst/>
          </a:prstGeom>
          <a:solidFill>
            <a:srgbClr val="000000">
              <a:alpha val="0"/>
            </a:srgbClr>
          </a:solidFill>
        </p:spPr>
        <p:txBody>
          <a:bodyPr anchor="ctr" rtlCol="false" rIns="0" lIns="0" tIns="0" bIns="0"/>
          <a:lstStyle/>
          <a:p>
            <a:pPr algn="ctr" indent="0">
              <a:lnSpc>
                <a:spcPct val="160000"/>
              </a:lnSpc>
              <a:defRPr/>
            </a:pPr>
            <a:r>
              <a:rPr lang="en-US"/>
              <a:t/>
            </a:r>
            <a:r>
              <a:rPr lang="en-US" sz="4900" b="true">
                <a:solidFill>
                  <a:srgbClr val="FFFFFF"/>
                </a:solidFill>
                <a:latin typeface="Aboreto"/>
              </a:rPr>
              <a:t>AI Course Copilot: RAG-Powered Study Assistant</a:t>
            </a:r>
            <a:endParaRPr lang="en-US" sz="1100"/>
          </a:p>
        </p:txBody>
      </p:sp>
      <p:sp>
        <p:nvSpPr>
          <p:cNvPr name="TextBox 7" id="7"/>
          <p:cNvSpPr txBox="true"/>
          <p:nvPr/>
        </p:nvSpPr>
        <p:spPr>
          <a:xfrm>
            <a:off x="876300" y="4749800"/>
            <a:ext cx="14490700" cy="368300"/>
          </a:xfrm>
          <a:prstGeom prst="rect">
            <a:avLst/>
          </a:prstGeom>
          <a:solidFill>
            <a:srgbClr val="000000">
              <a:alpha val="0"/>
            </a:srgbClr>
          </a:solidFill>
        </p:spPr>
        <p:txBody>
          <a:bodyPr anchor="ctr" rtlCol="false" rIns="0" lIns="0" tIns="0" bIns="0"/>
          <a:lstStyle/>
          <a:p>
            <a:pPr algn="ctr" indent="0">
              <a:lnSpc>
                <a:spcPct val="150000"/>
              </a:lnSpc>
              <a:defRPr/>
            </a:pPr>
            <a:r>
              <a:rPr lang="en-US"/>
              <a:t/>
            </a:r>
            <a:r>
              <a:rPr lang="en-US" sz="1900" b="true">
                <a:solidFill>
                  <a:srgbClr val="FFFFFF"/>
                </a:solidFill>
                <a:latin typeface="&quot;Titillium Web&quot;"/>
              </a:rPr>
              <a:t>An intelligent retrieval-augmented generation system for accessible course-related question answering with verified sources.</a:t>
            </a:r>
            <a:endParaRPr lang="en-US" sz="1100"/>
          </a:p>
        </p:txBody>
      </p:sp>
      <p:sp>
        <p:nvSpPr>
          <p:cNvPr name="TextBox 8" id="8"/>
          <p:cNvSpPr txBox="true"/>
          <p:nvPr/>
        </p:nvSpPr>
        <p:spPr>
          <a:xfrm>
            <a:off x="876300" y="5410200"/>
            <a:ext cx="14490700" cy="469900"/>
          </a:xfrm>
          <a:prstGeom prst="rect">
            <a:avLst/>
          </a:prstGeom>
          <a:solidFill>
            <a:srgbClr val="000000">
              <a:alpha val="0"/>
            </a:srgbClr>
          </a:solidFill>
        </p:spPr>
        <p:txBody>
          <a:bodyPr anchor="ctr" rtlCol="false" rIns="0" lIns="0" tIns="0" bIns="0"/>
          <a:lstStyle/>
          <a:p>
            <a:pPr algn="ctr" indent="0">
              <a:lnSpc>
                <a:spcPct val="150000"/>
              </a:lnSpc>
              <a:defRPr/>
            </a:pPr>
            <a:r>
              <a:rPr lang="en-US"/>
              <a:t/>
            </a:r>
            <a:r>
              <a:rPr lang="en-US" sz="2400" b="true">
                <a:solidFill>
                  <a:srgbClr val="FFFFFF"/>
                </a:solidFill>
                <a:latin typeface="&quot;Titillium Web&quot;"/>
              </a:rPr>
              <a:t>by Oscar Cortez, Judith Barrios, Ruben Valenzuela Alvarado</a:t>
            </a:r>
            <a:endParaRPr lang="en-US" sz="1100"/>
          </a:p>
        </p:txBody>
      </p:sp>
      <p:sp>
        <p:nvSpPr>
          <p:cNvPr name="TextBox 9" id="9"/>
          <p:cNvSpPr txBox="true"/>
          <p:nvPr/>
        </p:nvSpPr>
        <p:spPr>
          <a:xfrm>
            <a:off x="876300" y="5880100"/>
            <a:ext cx="14490700" cy="292100"/>
          </a:xfrm>
          <a:prstGeom prst="rect">
            <a:avLst/>
          </a:prstGeom>
          <a:solidFill>
            <a:srgbClr val="000000">
              <a:alpha val="0"/>
            </a:srgbClr>
          </a:solidFill>
        </p:spPr>
        <p:txBody>
          <a:bodyPr anchor="ctr" rtlCol="false" rIns="0" lIns="0" tIns="0" bIns="0"/>
          <a:lstStyle/>
          <a:p>
            <a:pPr algn="ctr" indent="0">
              <a:lnSpc>
                <a:spcPct val="150000"/>
              </a:lnSpc>
              <a:defRPr/>
            </a:pPr>
            <a:r>
              <a:rPr lang="en-US"/>
              <a:t/>
            </a:r>
            <a:r>
              <a:rPr lang="en-US" sz="1500" b="true">
                <a:solidFill>
                  <a:srgbClr val="FFFFFF"/>
                </a:solidFill>
                <a:latin typeface="&quot;Titillium Web&quot;"/>
              </a:rPr>
              <a:t>ITAI-2277 AI Course Project</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1295400"/>
            <a:ext cx="14490700" cy="7264400"/>
          </a:xfrm>
          <a:prstGeom prst="rect">
            <a:avLst/>
          </a:prstGeom>
          <a:solidFill>
            <a:srgbClr val="000000">
              <a:alpha val="0"/>
            </a:srgbClr>
          </a:solidFill>
        </p:spPr>
      </p:sp>
      <p:sp>
        <p:nvSpPr>
          <p:cNvPr name="AutoShape 5" id="5"/>
          <p:cNvSpPr/>
          <p:nvPr/>
        </p:nvSpPr>
        <p:spPr>
          <a:xfrm>
            <a:off x="876300" y="1295400"/>
            <a:ext cx="3429000" cy="4991100"/>
          </a:xfrm>
          <a:prstGeom prst="rect">
            <a:avLst/>
          </a:prstGeom>
          <a:solidFill>
            <a:srgbClr val="2A345E">
              <a:alpha val="66667"/>
            </a:srgbClr>
          </a:solidFill>
        </p:spPr>
      </p:sp>
      <p:sp>
        <p:nvSpPr>
          <p:cNvPr name="AutoShape 6" id="6"/>
          <p:cNvSpPr/>
          <p:nvPr/>
        </p:nvSpPr>
        <p:spPr>
          <a:xfrm>
            <a:off x="1193800" y="1498600"/>
            <a:ext cx="609600" cy="609600"/>
          </a:xfrm>
          <a:prstGeom prst="roundRect">
            <a:avLst>
              <a:gd name="adj" fmla="val 50000"/>
            </a:avLst>
          </a:prstGeom>
          <a:solidFill>
            <a:srgbClr val="4E37C1"/>
          </a:solidFill>
        </p:spPr>
      </p:sp>
      <p:sp>
        <p:nvSpPr>
          <p:cNvPr name="AutoShape 7" id="7"/>
          <p:cNvSpPr/>
          <p:nvPr/>
        </p:nvSpPr>
        <p:spPr>
          <a:xfrm>
            <a:off x="4559300" y="1295400"/>
            <a:ext cx="3429000" cy="4991100"/>
          </a:xfrm>
          <a:prstGeom prst="rect">
            <a:avLst/>
          </a:prstGeom>
          <a:solidFill>
            <a:srgbClr val="2A345E">
              <a:alpha val="66667"/>
            </a:srgbClr>
          </a:solidFill>
        </p:spPr>
      </p:sp>
      <p:sp>
        <p:nvSpPr>
          <p:cNvPr name="AutoShape 8" id="8"/>
          <p:cNvSpPr/>
          <p:nvPr/>
        </p:nvSpPr>
        <p:spPr>
          <a:xfrm>
            <a:off x="4876800" y="1498600"/>
            <a:ext cx="609600" cy="609600"/>
          </a:xfrm>
          <a:prstGeom prst="roundRect">
            <a:avLst>
              <a:gd name="adj" fmla="val 50000"/>
            </a:avLst>
          </a:prstGeom>
          <a:solidFill>
            <a:srgbClr val="4E37C1"/>
          </a:solidFill>
        </p:spPr>
      </p:sp>
      <p:sp>
        <p:nvSpPr>
          <p:cNvPr name="AutoShape 9" id="9"/>
          <p:cNvSpPr/>
          <p:nvPr/>
        </p:nvSpPr>
        <p:spPr>
          <a:xfrm>
            <a:off x="8242300" y="1295400"/>
            <a:ext cx="3429000" cy="4991100"/>
          </a:xfrm>
          <a:prstGeom prst="rect">
            <a:avLst/>
          </a:prstGeom>
          <a:solidFill>
            <a:srgbClr val="2A345E">
              <a:alpha val="66667"/>
            </a:srgbClr>
          </a:solidFill>
        </p:spPr>
      </p:sp>
      <p:sp>
        <p:nvSpPr>
          <p:cNvPr name="AutoShape 10" id="10"/>
          <p:cNvSpPr/>
          <p:nvPr/>
        </p:nvSpPr>
        <p:spPr>
          <a:xfrm>
            <a:off x="8572500" y="1498600"/>
            <a:ext cx="609600" cy="609600"/>
          </a:xfrm>
          <a:prstGeom prst="roundRect">
            <a:avLst>
              <a:gd name="adj" fmla="val 50000"/>
            </a:avLst>
          </a:prstGeom>
          <a:solidFill>
            <a:srgbClr val="4E37C1"/>
          </a:solidFill>
        </p:spPr>
      </p:sp>
      <p:sp>
        <p:nvSpPr>
          <p:cNvPr name="AutoShape 11" id="11"/>
          <p:cNvSpPr/>
          <p:nvPr/>
        </p:nvSpPr>
        <p:spPr>
          <a:xfrm>
            <a:off x="11938000" y="1295400"/>
            <a:ext cx="3429000" cy="4991100"/>
          </a:xfrm>
          <a:prstGeom prst="rect">
            <a:avLst/>
          </a:prstGeom>
          <a:solidFill>
            <a:srgbClr val="2A345E">
              <a:alpha val="66667"/>
            </a:srgbClr>
          </a:solidFill>
        </p:spPr>
      </p:sp>
      <p:sp>
        <p:nvSpPr>
          <p:cNvPr name="AutoShape 12" id="12"/>
          <p:cNvSpPr/>
          <p:nvPr/>
        </p:nvSpPr>
        <p:spPr>
          <a:xfrm>
            <a:off x="12255500" y="1498600"/>
            <a:ext cx="609600" cy="609600"/>
          </a:xfrm>
          <a:prstGeom prst="roundRect">
            <a:avLst>
              <a:gd name="adj" fmla="val 50000"/>
            </a:avLst>
          </a:prstGeom>
          <a:solidFill>
            <a:srgbClr val="4E37C1"/>
          </a:solidFill>
        </p:spPr>
      </p:sp>
      <p:sp>
        <p:nvSpPr>
          <p:cNvPr name="AutoShape 13" id="13"/>
          <p:cNvSpPr/>
          <p:nvPr/>
        </p:nvSpPr>
        <p:spPr>
          <a:xfrm>
            <a:off x="876300" y="6489700"/>
            <a:ext cx="14490700" cy="2070100"/>
          </a:xfrm>
          <a:prstGeom prst="rect">
            <a:avLst/>
          </a:prstGeom>
          <a:solidFill>
            <a:srgbClr val="2A345E">
              <a:alpha val="66667"/>
            </a:srgbClr>
          </a:solidFill>
        </p:spPr>
      </p:sp>
      <p:sp>
        <p:nvSpPr>
          <p:cNvPr name="AutoShape 14" id="14"/>
          <p:cNvSpPr/>
          <p:nvPr/>
        </p:nvSpPr>
        <p:spPr>
          <a:xfrm>
            <a:off x="1193800" y="6705600"/>
            <a:ext cx="609600" cy="609600"/>
          </a:xfrm>
          <a:prstGeom prst="roundRect">
            <a:avLst>
              <a:gd name="adj" fmla="val 50000"/>
            </a:avLst>
          </a:prstGeom>
          <a:solidFill>
            <a:srgbClr val="4E37C1"/>
          </a:solidFill>
        </p:spPr>
      </p:sp>
      <p:sp>
        <p:nvSpPr>
          <p:cNvPr name="TextBox 15" id="15"/>
          <p:cNvSpPr txBox="true"/>
          <p:nvPr/>
        </p:nvSpPr>
        <p:spPr>
          <a:xfrm>
            <a:off x="876300" y="558800"/>
            <a:ext cx="14490700" cy="495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200" b="true">
                <a:solidFill>
                  <a:srgbClr val="FFFFFF"/>
                </a:solidFill>
                <a:latin typeface="Aboreto"/>
              </a:rPr>
              <a:t>Problem Statement</a:t>
            </a:r>
            <a:endParaRPr lang="en-US" sz="1100"/>
          </a:p>
        </p:txBody>
      </p:sp>
      <p:sp>
        <p:nvSpPr>
          <p:cNvPr name="TextBox 16" id="16"/>
          <p:cNvSpPr txBox="true"/>
          <p:nvPr/>
        </p:nvSpPr>
        <p:spPr>
          <a:xfrm>
            <a:off x="1447800" y="1651000"/>
            <a:ext cx="304800" cy="3048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000" b="true">
                <a:solidFill>
                  <a:srgbClr val="000000"/>
                </a:solidFill>
                <a:highlight>
                  <a:srgbClr val="000000">
                    <a:alpha val="0"/>
                  </a:srgbClr>
                </a:highlight>
                <a:latin typeface="Aboreto"/>
              </a:rPr>
              <a:t>1</a:t>
            </a:r>
            <a:endParaRPr lang="en-US" sz="1100"/>
          </a:p>
        </p:txBody>
      </p:sp>
      <p:sp>
        <p:nvSpPr>
          <p:cNvPr name="TextBox 17" id="17"/>
          <p:cNvSpPr txBox="true"/>
          <p:nvPr/>
        </p:nvSpPr>
        <p:spPr>
          <a:xfrm>
            <a:off x="1130300" y="2324100"/>
            <a:ext cx="2921000" cy="7366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FFFFFF"/>
                </a:solidFill>
                <a:latin typeface="Aboreto"/>
              </a:rPr>
              <a:t>Information Overload</a:t>
            </a:r>
            <a:endParaRPr lang="en-US" sz="1100"/>
          </a:p>
        </p:txBody>
      </p:sp>
      <p:sp>
        <p:nvSpPr>
          <p:cNvPr name="TextBox 18" id="18"/>
          <p:cNvSpPr txBox="true"/>
          <p:nvPr/>
        </p:nvSpPr>
        <p:spPr>
          <a:xfrm>
            <a:off x="5105400" y="1651000"/>
            <a:ext cx="304800" cy="3048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000" b="true">
                <a:solidFill>
                  <a:srgbClr val="000000"/>
                </a:solidFill>
                <a:highlight>
                  <a:srgbClr val="000000">
                    <a:alpha val="0"/>
                  </a:srgbClr>
                </a:highlight>
                <a:latin typeface="Aboreto"/>
              </a:rPr>
              <a:t>2</a:t>
            </a:r>
            <a:endParaRPr lang="en-US" sz="1100"/>
          </a:p>
        </p:txBody>
      </p:sp>
      <p:sp>
        <p:nvSpPr>
          <p:cNvPr name="TextBox 19" id="19"/>
          <p:cNvSpPr txBox="true"/>
          <p:nvPr/>
        </p:nvSpPr>
        <p:spPr>
          <a:xfrm>
            <a:off x="4813300" y="2324100"/>
            <a:ext cx="2921000" cy="11176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FFFFFF"/>
                </a:solidFill>
                <a:latin typeface="Aboreto"/>
              </a:rPr>
              <a:t>Finding Answers in Documents</a:t>
            </a:r>
            <a:endParaRPr lang="en-US" sz="1100"/>
          </a:p>
        </p:txBody>
      </p:sp>
      <p:sp>
        <p:nvSpPr>
          <p:cNvPr name="TextBox 20" id="20"/>
          <p:cNvSpPr txBox="true"/>
          <p:nvPr/>
        </p:nvSpPr>
        <p:spPr>
          <a:xfrm>
            <a:off x="8788400" y="1651000"/>
            <a:ext cx="304800" cy="3048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000" b="true">
                <a:solidFill>
                  <a:srgbClr val="000000"/>
                </a:solidFill>
                <a:highlight>
                  <a:srgbClr val="000000">
                    <a:alpha val="0"/>
                  </a:srgbClr>
                </a:highlight>
                <a:latin typeface="Aboreto"/>
              </a:rPr>
              <a:t>3</a:t>
            </a:r>
            <a:endParaRPr lang="en-US" sz="1100"/>
          </a:p>
        </p:txBody>
      </p:sp>
      <p:sp>
        <p:nvSpPr>
          <p:cNvPr name="TextBox 21" id="21"/>
          <p:cNvSpPr txBox="true"/>
          <p:nvPr/>
        </p:nvSpPr>
        <p:spPr>
          <a:xfrm>
            <a:off x="8496300" y="2324100"/>
            <a:ext cx="2921000" cy="7366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FFFFFF"/>
                </a:solidFill>
                <a:latin typeface="Aboreto"/>
              </a:rPr>
              <a:t>Inefficient Study</a:t>
            </a:r>
            <a:endParaRPr lang="en-US" sz="1100"/>
          </a:p>
        </p:txBody>
      </p:sp>
      <p:sp>
        <p:nvSpPr>
          <p:cNvPr name="TextBox 22" id="22"/>
          <p:cNvSpPr txBox="true"/>
          <p:nvPr/>
        </p:nvSpPr>
        <p:spPr>
          <a:xfrm>
            <a:off x="12471400" y="1651000"/>
            <a:ext cx="304800" cy="3048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000" b="true">
                <a:solidFill>
                  <a:srgbClr val="000000"/>
                </a:solidFill>
                <a:highlight>
                  <a:srgbClr val="000000">
                    <a:alpha val="0"/>
                  </a:srgbClr>
                </a:highlight>
                <a:latin typeface="Aboreto"/>
              </a:rPr>
              <a:t>4</a:t>
            </a:r>
            <a:endParaRPr lang="en-US" sz="1100"/>
          </a:p>
        </p:txBody>
      </p:sp>
      <p:sp>
        <p:nvSpPr>
          <p:cNvPr name="TextBox 23" id="23"/>
          <p:cNvSpPr txBox="true"/>
          <p:nvPr/>
        </p:nvSpPr>
        <p:spPr>
          <a:xfrm>
            <a:off x="12179300" y="2324100"/>
            <a:ext cx="2921000" cy="11176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FFFFFF"/>
                </a:solidFill>
                <a:latin typeface="Aboreto"/>
              </a:rPr>
              <a:t>Confusion About Deadlines</a:t>
            </a:r>
            <a:endParaRPr lang="en-US" sz="1100"/>
          </a:p>
        </p:txBody>
      </p:sp>
      <p:sp>
        <p:nvSpPr>
          <p:cNvPr name="TextBox 24" id="24"/>
          <p:cNvSpPr txBox="true"/>
          <p:nvPr/>
        </p:nvSpPr>
        <p:spPr>
          <a:xfrm>
            <a:off x="1422400" y="6858000"/>
            <a:ext cx="304800" cy="3048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000" b="true">
                <a:solidFill>
                  <a:srgbClr val="000000"/>
                </a:solidFill>
                <a:highlight>
                  <a:srgbClr val="000000">
                    <a:alpha val="0"/>
                  </a:srgbClr>
                </a:highlight>
                <a:latin typeface="Aboreto"/>
              </a:rPr>
              <a:t>5</a:t>
            </a:r>
            <a:endParaRPr lang="en-US" sz="1100"/>
          </a:p>
        </p:txBody>
      </p:sp>
      <p:sp>
        <p:nvSpPr>
          <p:cNvPr name="TextBox 25" id="25"/>
          <p:cNvSpPr txBox="true"/>
          <p:nvPr/>
        </p:nvSpPr>
        <p:spPr>
          <a:xfrm>
            <a:off x="1130300" y="7531100"/>
            <a:ext cx="136779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FFFFFF"/>
                </a:solidFill>
                <a:latin typeface="Aboreto"/>
              </a:rPr>
              <a:t>Assignment Requirements</a:t>
            </a:r>
            <a:endParaRPr lang="en-US" sz="1100"/>
          </a:p>
        </p:txBody>
      </p:sp>
      <p:sp>
        <p:nvSpPr>
          <p:cNvPr name="TextBox 26" id="26"/>
          <p:cNvSpPr txBox="true"/>
          <p:nvPr/>
        </p:nvSpPr>
        <p:spPr>
          <a:xfrm>
            <a:off x="1130300" y="3225800"/>
            <a:ext cx="2921000" cy="24765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600" b="true">
                <a:solidFill>
                  <a:srgbClr val="FFFFFF"/>
                </a:solidFill>
                <a:latin typeface="&quot;Titillium Web&quot;"/>
              </a:rPr>
              <a:t>Students must manage course materials from multiple sources (textbooks, lecture slides, handouts, readings), making it difficult to know where to find specific information.</a:t>
            </a:r>
            <a:endParaRPr lang="en-US" sz="1100"/>
          </a:p>
        </p:txBody>
      </p:sp>
      <p:sp>
        <p:nvSpPr>
          <p:cNvPr name="TextBox 27" id="27"/>
          <p:cNvSpPr txBox="true"/>
          <p:nvPr/>
        </p:nvSpPr>
        <p:spPr>
          <a:xfrm>
            <a:off x="4813300" y="3594100"/>
            <a:ext cx="2921000" cy="24765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600" b="true">
                <a:solidFill>
                  <a:srgbClr val="FFFFFF"/>
                </a:solidFill>
                <a:latin typeface="&quot;Titillium Web&quot;"/>
              </a:rPr>
              <a:t>When searching for a specific concept or answer, students must manually browse through dense academic documents, spending significant time on search rather than learning.</a:t>
            </a:r>
            <a:endParaRPr lang="en-US" sz="1100"/>
          </a:p>
        </p:txBody>
      </p:sp>
      <p:sp>
        <p:nvSpPr>
          <p:cNvPr name="TextBox 28" id="28"/>
          <p:cNvSpPr txBox="true"/>
          <p:nvPr/>
        </p:nvSpPr>
        <p:spPr>
          <a:xfrm>
            <a:off x="8496300" y="3225800"/>
            <a:ext cx="2921000" cy="24765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600" b="true">
                <a:solidFill>
                  <a:srgbClr val="FFFFFF"/>
                </a:solidFill>
                <a:latin typeface="&quot;Titillium Web&quot;"/>
              </a:rPr>
              <a:t>Traditional study methods require students to manually search, re-read materials, and create notes, which is time-consuming and doesn't always lead to finding the answers they need.</a:t>
            </a:r>
            <a:endParaRPr lang="en-US" sz="1100"/>
          </a:p>
        </p:txBody>
      </p:sp>
      <p:sp>
        <p:nvSpPr>
          <p:cNvPr name="TextBox 29" id="29"/>
          <p:cNvSpPr txBox="true"/>
          <p:nvPr/>
        </p:nvSpPr>
        <p:spPr>
          <a:xfrm>
            <a:off x="12179300" y="3594100"/>
            <a:ext cx="2921000" cy="24765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600" b="true">
                <a:solidFill>
                  <a:srgbClr val="FFFFFF"/>
                </a:solidFill>
                <a:latin typeface="&quot;Titillium Web&quot;"/>
              </a:rPr>
              <a:t>Assignment submission deadlines and communication about due dates can be scattered across syllabi, announcements, and emails, leading to missed deadlines.</a:t>
            </a:r>
            <a:endParaRPr lang="en-US" sz="1100"/>
          </a:p>
        </p:txBody>
      </p:sp>
      <p:sp>
        <p:nvSpPr>
          <p:cNvPr name="TextBox 30" id="30"/>
          <p:cNvSpPr txBox="true"/>
          <p:nvPr/>
        </p:nvSpPr>
        <p:spPr>
          <a:xfrm>
            <a:off x="1130300" y="8051800"/>
            <a:ext cx="13677900" cy="3048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600" b="true">
                <a:solidFill>
                  <a:srgbClr val="FFFFFF"/>
                </a:solidFill>
                <a:latin typeface="&quot;Titillium Web&quot;"/>
              </a:rPr>
              <a:t>Students often struggle to find clear information about what's expected in assignments, what's due, and how work will be graded.</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2387600"/>
            <a:ext cx="14490700" cy="5232400"/>
          </a:xfrm>
          <a:prstGeom prst="rect">
            <a:avLst/>
          </a:prstGeom>
          <a:solidFill>
            <a:srgbClr val="000000">
              <a:alpha val="0"/>
            </a:srgbClr>
          </a:solidFill>
        </p:spPr>
      </p:sp>
      <p:sp>
        <p:nvSpPr>
          <p:cNvPr name="AutoShape 5" id="5"/>
          <p:cNvSpPr/>
          <p:nvPr/>
        </p:nvSpPr>
        <p:spPr>
          <a:xfrm>
            <a:off x="876300" y="2387600"/>
            <a:ext cx="3429000" cy="5232400"/>
          </a:xfrm>
          <a:prstGeom prst="rect">
            <a:avLst/>
          </a:prstGeom>
          <a:solidFill>
            <a:srgbClr val="2A345E">
              <a:alpha val="66667"/>
            </a:srgbClr>
          </a:solidFill>
        </p:spPr>
      </p:sp>
      <p:sp>
        <p:nvSpPr>
          <p:cNvPr name="AutoShape 6" id="6"/>
          <p:cNvSpPr/>
          <p:nvPr/>
        </p:nvSpPr>
        <p:spPr>
          <a:xfrm>
            <a:off x="1130300" y="2641600"/>
            <a:ext cx="749300" cy="749300"/>
          </a:xfrm>
          <a:prstGeom prst="roundRect">
            <a:avLst>
              <a:gd name="adj" fmla="val 49152"/>
            </a:avLst>
          </a:prstGeom>
          <a:solidFill>
            <a:srgbClr val="4E37C1"/>
          </a:solidFill>
        </p:spPr>
      </p:sp>
      <p:sp>
        <p:nvSpPr>
          <p:cNvPr name="AutoShape 7" id="7"/>
          <p:cNvSpPr/>
          <p:nvPr/>
        </p:nvSpPr>
        <p:spPr>
          <a:xfrm>
            <a:off x="4559300" y="2387600"/>
            <a:ext cx="3429000" cy="5232400"/>
          </a:xfrm>
          <a:prstGeom prst="rect">
            <a:avLst/>
          </a:prstGeom>
          <a:solidFill>
            <a:srgbClr val="2A345E">
              <a:alpha val="66667"/>
            </a:srgbClr>
          </a:solidFill>
        </p:spPr>
      </p:sp>
      <p:sp>
        <p:nvSpPr>
          <p:cNvPr name="AutoShape 8" id="8"/>
          <p:cNvSpPr/>
          <p:nvPr/>
        </p:nvSpPr>
        <p:spPr>
          <a:xfrm>
            <a:off x="4813300" y="2641600"/>
            <a:ext cx="749300" cy="749300"/>
          </a:xfrm>
          <a:prstGeom prst="roundRect">
            <a:avLst>
              <a:gd name="adj" fmla="val 49152"/>
            </a:avLst>
          </a:prstGeom>
          <a:solidFill>
            <a:srgbClr val="4E37C1"/>
          </a:solidFill>
        </p:spPr>
      </p:sp>
      <p:sp>
        <p:nvSpPr>
          <p:cNvPr name="AutoShape 9" id="9"/>
          <p:cNvSpPr/>
          <p:nvPr/>
        </p:nvSpPr>
        <p:spPr>
          <a:xfrm>
            <a:off x="8242300" y="2387600"/>
            <a:ext cx="3429000" cy="5232400"/>
          </a:xfrm>
          <a:prstGeom prst="rect">
            <a:avLst/>
          </a:prstGeom>
          <a:solidFill>
            <a:srgbClr val="2A345E">
              <a:alpha val="66667"/>
            </a:srgbClr>
          </a:solidFill>
        </p:spPr>
      </p:sp>
      <p:sp>
        <p:nvSpPr>
          <p:cNvPr name="AutoShape 10" id="10"/>
          <p:cNvSpPr/>
          <p:nvPr/>
        </p:nvSpPr>
        <p:spPr>
          <a:xfrm>
            <a:off x="8496300" y="2641600"/>
            <a:ext cx="749300" cy="749300"/>
          </a:xfrm>
          <a:prstGeom prst="roundRect">
            <a:avLst>
              <a:gd name="adj" fmla="val 49152"/>
            </a:avLst>
          </a:prstGeom>
          <a:solidFill>
            <a:srgbClr val="4E37C1"/>
          </a:solidFill>
        </p:spPr>
      </p:sp>
      <p:sp>
        <p:nvSpPr>
          <p:cNvPr name="AutoShape 11" id="11"/>
          <p:cNvSpPr/>
          <p:nvPr/>
        </p:nvSpPr>
        <p:spPr>
          <a:xfrm>
            <a:off x="11938000" y="2387600"/>
            <a:ext cx="3429000" cy="5232400"/>
          </a:xfrm>
          <a:prstGeom prst="rect">
            <a:avLst/>
          </a:prstGeom>
          <a:solidFill>
            <a:srgbClr val="2A345E">
              <a:alpha val="66667"/>
            </a:srgbClr>
          </a:solidFill>
        </p:spPr>
      </p:sp>
      <p:sp>
        <p:nvSpPr>
          <p:cNvPr name="AutoShape 12" id="12"/>
          <p:cNvSpPr/>
          <p:nvPr/>
        </p:nvSpPr>
        <p:spPr>
          <a:xfrm>
            <a:off x="12179300" y="2641600"/>
            <a:ext cx="749300" cy="749300"/>
          </a:xfrm>
          <a:prstGeom prst="roundRect">
            <a:avLst>
              <a:gd name="adj" fmla="val 49152"/>
            </a:avLst>
          </a:prstGeom>
          <a:solidFill>
            <a:srgbClr val="4E37C1"/>
          </a:solidFill>
        </p:spPr>
      </p:sp>
      <p:sp>
        <p:nvSpPr>
          <p:cNvPr name="TextBox 13" id="13"/>
          <p:cNvSpPr txBox="true"/>
          <p:nvPr/>
        </p:nvSpPr>
        <p:spPr>
          <a:xfrm>
            <a:off x="876300" y="14986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FFFFFF"/>
                </a:solidFill>
                <a:latin typeface="Aboreto"/>
              </a:rPr>
              <a:t>Proposed Solution: AI Course Copilot</a:t>
            </a:r>
            <a:endParaRPr lang="en-US" sz="1100"/>
          </a:p>
        </p:txBody>
      </p:sp>
      <p:sp>
        <p:nvSpPr>
          <p:cNvPr name="TextBox 14" id="14"/>
          <p:cNvSpPr txBox="true"/>
          <p:nvPr/>
        </p:nvSpPr>
        <p:spPr>
          <a:xfrm>
            <a:off x="1130300" y="3644900"/>
            <a:ext cx="29210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Verified Information</a:t>
            </a:r>
            <a:endParaRPr lang="en-US" sz="1100"/>
          </a:p>
        </p:txBody>
      </p:sp>
      <p:sp>
        <p:nvSpPr>
          <p:cNvPr name="TextBox 15" id="15"/>
          <p:cNvSpPr txBox="true"/>
          <p:nvPr/>
        </p:nvSpPr>
        <p:spPr>
          <a:xfrm>
            <a:off x="4813300" y="3644900"/>
            <a:ext cx="2921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Quick Access</a:t>
            </a:r>
            <a:endParaRPr lang="en-US" sz="1100"/>
          </a:p>
        </p:txBody>
      </p:sp>
      <p:sp>
        <p:nvSpPr>
          <p:cNvPr name="TextBox 16" id="16"/>
          <p:cNvSpPr txBox="true"/>
          <p:nvPr/>
        </p:nvSpPr>
        <p:spPr>
          <a:xfrm>
            <a:off x="8496300" y="3644900"/>
            <a:ext cx="2921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Time Savings</a:t>
            </a:r>
            <a:endParaRPr lang="en-US" sz="1100"/>
          </a:p>
        </p:txBody>
      </p:sp>
      <p:sp>
        <p:nvSpPr>
          <p:cNvPr name="TextBox 17" id="17"/>
          <p:cNvSpPr txBox="true"/>
          <p:nvPr/>
        </p:nvSpPr>
        <p:spPr>
          <a:xfrm>
            <a:off x="12179300" y="3644900"/>
            <a:ext cx="29210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Grounded Responses</a:t>
            </a:r>
            <a:endParaRPr lang="en-US" sz="1100"/>
          </a:p>
        </p:txBody>
      </p:sp>
      <p:sp>
        <p:nvSpPr>
          <p:cNvPr name="TextBox 18" id="18"/>
          <p:cNvSpPr txBox="true"/>
          <p:nvPr/>
        </p:nvSpPr>
        <p:spPr>
          <a:xfrm>
            <a:off x="1130300" y="4737100"/>
            <a:ext cx="29210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Answers are generated from approved course materials only, ensuring responses stay grounded in actual curriculum.</a:t>
            </a:r>
            <a:endParaRPr lang="en-US" sz="1100"/>
          </a:p>
        </p:txBody>
      </p:sp>
      <p:sp>
        <p:nvSpPr>
          <p:cNvPr name="TextBox 19" id="19"/>
          <p:cNvSpPr txBox="true"/>
          <p:nvPr/>
        </p:nvSpPr>
        <p:spPr>
          <a:xfrm>
            <a:off x="4813300" y="4279900"/>
            <a:ext cx="29210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Students get instant answers to their questions without manually searching through multiple documents.</a:t>
            </a:r>
            <a:endParaRPr lang="en-US" sz="1100"/>
          </a:p>
        </p:txBody>
      </p:sp>
      <p:sp>
        <p:nvSpPr>
          <p:cNvPr name="TextBox 20" id="20"/>
          <p:cNvSpPr txBox="true"/>
          <p:nvPr/>
        </p:nvSpPr>
        <p:spPr>
          <a:xfrm>
            <a:off x="8496300" y="4279900"/>
            <a:ext cx="2921000" cy="2260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Reduces study time by helping students find answers faster, allowing them to focus on deeper learning rather than searching.</a:t>
            </a:r>
            <a:endParaRPr lang="en-US" sz="1100"/>
          </a:p>
        </p:txBody>
      </p:sp>
      <p:sp>
        <p:nvSpPr>
          <p:cNvPr name="TextBox 21" id="21"/>
          <p:cNvSpPr txBox="true"/>
          <p:nvPr/>
        </p:nvSpPr>
        <p:spPr>
          <a:xfrm>
            <a:off x="12179300" y="4737100"/>
            <a:ext cx="2921000" cy="2641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By using retrieval-augmented generation with course materials, the system helps prevent inaccurate information and keeps students on track with official content.</a:t>
            </a:r>
            <a:endParaRPr lang="en-US" sz="1100"/>
          </a:p>
        </p:txBody>
      </p:sp>
      <p:pic>
        <p:nvPicPr>
          <p:cNvPr name="Picture 22" id="22"/>
          <p:cNvPicPr>
            <a:picLocks noChangeAspect="true"/>
          </p:cNvPicPr>
          <p:nvPr/>
        </p:nvPicPr>
        <p:blipFill>
          <a:blip r:embed="rId3"/>
          <a:srcRect l="0" r="0"/>
          <a:stretch>
            <a:fillRect/>
          </a:stretch>
        </p:blipFill>
        <p:spPr>
          <a:xfrm>
            <a:off x="1384300" y="2895600"/>
            <a:ext cx="241300" cy="241300"/>
          </a:xfrm>
          <a:prstGeom prst="rect">
            <a:avLst/>
          </a:prstGeom>
        </p:spPr>
      </p:pic>
      <p:pic>
        <p:nvPicPr>
          <p:cNvPr name="Picture 23" id="23"/>
          <p:cNvPicPr>
            <a:picLocks noChangeAspect="true"/>
          </p:cNvPicPr>
          <p:nvPr/>
        </p:nvPicPr>
        <p:blipFill>
          <a:blip r:embed="rId4"/>
          <a:srcRect l="6000" r="6000"/>
          <a:stretch>
            <a:fillRect/>
          </a:stretch>
        </p:blipFill>
        <p:spPr>
          <a:xfrm>
            <a:off x="5080000" y="2895600"/>
            <a:ext cx="215900" cy="241300"/>
          </a:xfrm>
          <a:prstGeom prst="rect">
            <a:avLst/>
          </a:prstGeom>
        </p:spPr>
      </p:pic>
      <p:pic>
        <p:nvPicPr>
          <p:cNvPr name="Picture 24" id="24"/>
          <p:cNvPicPr>
            <a:picLocks noChangeAspect="true"/>
          </p:cNvPicPr>
          <p:nvPr/>
        </p:nvPicPr>
        <p:blipFill>
          <a:blip r:embed="rId5"/>
          <a:srcRect l="0" r="0"/>
          <a:stretch>
            <a:fillRect/>
          </a:stretch>
        </p:blipFill>
        <p:spPr>
          <a:xfrm>
            <a:off x="8750300" y="2895600"/>
            <a:ext cx="241300" cy="241300"/>
          </a:xfrm>
          <a:prstGeom prst="rect">
            <a:avLst/>
          </a:prstGeom>
        </p:spPr>
      </p:pic>
      <p:pic>
        <p:nvPicPr>
          <p:cNvPr name="Picture 25" id="25"/>
          <p:cNvPicPr>
            <a:picLocks noChangeAspect="true"/>
          </p:cNvPicPr>
          <p:nvPr/>
        </p:nvPicPr>
        <p:blipFill>
          <a:blip r:embed="rId6"/>
          <a:srcRect l="0" r="0"/>
          <a:stretch>
            <a:fillRect/>
          </a:stretch>
        </p:blipFill>
        <p:spPr>
          <a:xfrm>
            <a:off x="12433300" y="2895600"/>
            <a:ext cx="241300" cy="2413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1612900"/>
            <a:ext cx="14490700" cy="6794500"/>
          </a:xfrm>
          <a:prstGeom prst="rect">
            <a:avLst/>
          </a:prstGeom>
          <a:solidFill>
            <a:srgbClr val="000000">
              <a:alpha val="0"/>
            </a:srgbClr>
          </a:solidFill>
        </p:spPr>
      </p:sp>
      <p:sp>
        <p:nvSpPr>
          <p:cNvPr name="AutoShape 5" id="5"/>
          <p:cNvSpPr/>
          <p:nvPr/>
        </p:nvSpPr>
        <p:spPr>
          <a:xfrm>
            <a:off x="876300" y="1612900"/>
            <a:ext cx="3619500" cy="3390900"/>
          </a:xfrm>
          <a:prstGeom prst="rect">
            <a:avLst/>
          </a:prstGeom>
          <a:solidFill>
            <a:srgbClr val="000000">
              <a:alpha val="0"/>
            </a:srgbClr>
          </a:solidFill>
        </p:spPr>
      </p:sp>
      <p:sp>
        <p:nvSpPr>
          <p:cNvPr name="AutoShape 6" id="6"/>
          <p:cNvSpPr/>
          <p:nvPr/>
        </p:nvSpPr>
        <p:spPr>
          <a:xfrm>
            <a:off x="876300" y="1612900"/>
            <a:ext cx="3619500" cy="1003300"/>
          </a:xfrm>
          <a:prstGeom prst="rect">
            <a:avLst/>
          </a:prstGeom>
          <a:solidFill>
            <a:srgbClr val="000000">
              <a:alpha val="0"/>
            </a:srgbClr>
          </a:solidFill>
        </p:spPr>
      </p:sp>
      <p:sp>
        <p:nvSpPr>
          <p:cNvPr name="AutoShape 7" id="7"/>
          <p:cNvSpPr/>
          <p:nvPr/>
        </p:nvSpPr>
        <p:spPr>
          <a:xfrm>
            <a:off x="4495800" y="1612900"/>
            <a:ext cx="3619500" cy="3390900"/>
          </a:xfrm>
          <a:prstGeom prst="rect">
            <a:avLst/>
          </a:prstGeom>
          <a:solidFill>
            <a:srgbClr val="000000">
              <a:alpha val="0"/>
            </a:srgbClr>
          </a:solidFill>
        </p:spPr>
      </p:sp>
      <p:sp>
        <p:nvSpPr>
          <p:cNvPr name="AutoShape 8" id="8"/>
          <p:cNvSpPr/>
          <p:nvPr/>
        </p:nvSpPr>
        <p:spPr>
          <a:xfrm>
            <a:off x="4495800" y="1612900"/>
            <a:ext cx="3619500" cy="1003300"/>
          </a:xfrm>
          <a:prstGeom prst="rect">
            <a:avLst/>
          </a:prstGeom>
          <a:solidFill>
            <a:srgbClr val="000000">
              <a:alpha val="0"/>
            </a:srgbClr>
          </a:solidFill>
        </p:spPr>
      </p:sp>
      <p:sp>
        <p:nvSpPr>
          <p:cNvPr name="AutoShape 9" id="9"/>
          <p:cNvSpPr/>
          <p:nvPr/>
        </p:nvSpPr>
        <p:spPr>
          <a:xfrm>
            <a:off x="8128000" y="1612900"/>
            <a:ext cx="3619500" cy="3390900"/>
          </a:xfrm>
          <a:prstGeom prst="rect">
            <a:avLst/>
          </a:prstGeom>
          <a:solidFill>
            <a:srgbClr val="000000">
              <a:alpha val="0"/>
            </a:srgbClr>
          </a:solidFill>
        </p:spPr>
      </p:sp>
      <p:sp>
        <p:nvSpPr>
          <p:cNvPr name="AutoShape 10" id="10"/>
          <p:cNvSpPr/>
          <p:nvPr/>
        </p:nvSpPr>
        <p:spPr>
          <a:xfrm>
            <a:off x="8128000" y="1612900"/>
            <a:ext cx="3619500" cy="1003300"/>
          </a:xfrm>
          <a:prstGeom prst="rect">
            <a:avLst/>
          </a:prstGeom>
          <a:solidFill>
            <a:srgbClr val="000000">
              <a:alpha val="0"/>
            </a:srgbClr>
          </a:solidFill>
        </p:spPr>
      </p:sp>
      <p:sp>
        <p:nvSpPr>
          <p:cNvPr name="AutoShape 11" id="11"/>
          <p:cNvSpPr/>
          <p:nvPr/>
        </p:nvSpPr>
        <p:spPr>
          <a:xfrm>
            <a:off x="11747500" y="1612900"/>
            <a:ext cx="3619500" cy="3390900"/>
          </a:xfrm>
          <a:prstGeom prst="rect">
            <a:avLst/>
          </a:prstGeom>
          <a:solidFill>
            <a:srgbClr val="000000">
              <a:alpha val="0"/>
            </a:srgbClr>
          </a:solidFill>
        </p:spPr>
      </p:sp>
      <p:sp>
        <p:nvSpPr>
          <p:cNvPr name="AutoShape 12" id="12"/>
          <p:cNvSpPr/>
          <p:nvPr/>
        </p:nvSpPr>
        <p:spPr>
          <a:xfrm>
            <a:off x="11747500" y="1612900"/>
            <a:ext cx="3619500" cy="1003300"/>
          </a:xfrm>
          <a:prstGeom prst="rect">
            <a:avLst/>
          </a:prstGeom>
          <a:solidFill>
            <a:srgbClr val="000000">
              <a:alpha val="0"/>
            </a:srgbClr>
          </a:solidFill>
        </p:spPr>
      </p:sp>
      <p:sp>
        <p:nvSpPr>
          <p:cNvPr name="AutoShape 13" id="13"/>
          <p:cNvSpPr/>
          <p:nvPr/>
        </p:nvSpPr>
        <p:spPr>
          <a:xfrm>
            <a:off x="876300" y="5003800"/>
            <a:ext cx="3619500" cy="3390900"/>
          </a:xfrm>
          <a:prstGeom prst="rect">
            <a:avLst/>
          </a:prstGeom>
          <a:solidFill>
            <a:srgbClr val="000000">
              <a:alpha val="0"/>
            </a:srgbClr>
          </a:solidFill>
        </p:spPr>
      </p:sp>
      <p:sp>
        <p:nvSpPr>
          <p:cNvPr name="AutoShape 14" id="14"/>
          <p:cNvSpPr/>
          <p:nvPr/>
        </p:nvSpPr>
        <p:spPr>
          <a:xfrm>
            <a:off x="876300" y="5003800"/>
            <a:ext cx="3619500" cy="1003300"/>
          </a:xfrm>
          <a:prstGeom prst="rect">
            <a:avLst/>
          </a:prstGeom>
          <a:solidFill>
            <a:srgbClr val="000000">
              <a:alpha val="0"/>
            </a:srgbClr>
          </a:solidFill>
        </p:spPr>
      </p:sp>
      <p:sp>
        <p:nvSpPr>
          <p:cNvPr name="AutoShape 15" id="15"/>
          <p:cNvSpPr/>
          <p:nvPr/>
        </p:nvSpPr>
        <p:spPr>
          <a:xfrm>
            <a:off x="4495800" y="5003800"/>
            <a:ext cx="3619500" cy="3390900"/>
          </a:xfrm>
          <a:prstGeom prst="rect">
            <a:avLst/>
          </a:prstGeom>
          <a:solidFill>
            <a:srgbClr val="000000">
              <a:alpha val="0"/>
            </a:srgbClr>
          </a:solidFill>
        </p:spPr>
      </p:sp>
      <p:sp>
        <p:nvSpPr>
          <p:cNvPr name="AutoShape 16" id="16"/>
          <p:cNvSpPr/>
          <p:nvPr/>
        </p:nvSpPr>
        <p:spPr>
          <a:xfrm>
            <a:off x="4495800" y="5003800"/>
            <a:ext cx="3619500" cy="1003300"/>
          </a:xfrm>
          <a:prstGeom prst="rect">
            <a:avLst/>
          </a:prstGeom>
          <a:solidFill>
            <a:srgbClr val="000000">
              <a:alpha val="0"/>
            </a:srgbClr>
          </a:solidFill>
        </p:spPr>
      </p:sp>
      <p:sp>
        <p:nvSpPr>
          <p:cNvPr name="AutoShape 17" id="17"/>
          <p:cNvSpPr/>
          <p:nvPr/>
        </p:nvSpPr>
        <p:spPr>
          <a:xfrm>
            <a:off x="8128000" y="5003800"/>
            <a:ext cx="3619500" cy="3390900"/>
          </a:xfrm>
          <a:prstGeom prst="rect">
            <a:avLst/>
          </a:prstGeom>
          <a:solidFill>
            <a:srgbClr val="000000">
              <a:alpha val="0"/>
            </a:srgbClr>
          </a:solidFill>
        </p:spPr>
      </p:sp>
      <p:sp>
        <p:nvSpPr>
          <p:cNvPr name="AutoShape 18" id="18"/>
          <p:cNvSpPr/>
          <p:nvPr/>
        </p:nvSpPr>
        <p:spPr>
          <a:xfrm>
            <a:off x="8128000" y="5003800"/>
            <a:ext cx="3619500" cy="1003300"/>
          </a:xfrm>
          <a:prstGeom prst="rect">
            <a:avLst/>
          </a:prstGeom>
          <a:solidFill>
            <a:srgbClr val="000000">
              <a:alpha val="0"/>
            </a:srgbClr>
          </a:solidFill>
        </p:spPr>
      </p:sp>
      <p:pic>
        <p:nvPicPr>
          <p:cNvPr name="Picture 19" id="19"/>
          <p:cNvPicPr>
            <a:picLocks noChangeAspect="true"/>
          </p:cNvPicPr>
          <p:nvPr/>
        </p:nvPicPr>
        <p:blipFill>
          <a:blip r:embed="rId3"/>
          <a:stretch>
            <a:fillRect/>
          </a:stretch>
        </p:blipFill>
        <p:spPr>
          <a:xfrm>
            <a:off x="876300" y="1612900"/>
            <a:ext cx="3619500" cy="990600"/>
          </a:xfrm>
          <a:prstGeom prst="rect">
            <a:avLst/>
          </a:prstGeom>
        </p:spPr>
      </p:pic>
      <p:pic>
        <p:nvPicPr>
          <p:cNvPr name="Picture 20" id="20"/>
          <p:cNvPicPr>
            <a:picLocks noChangeAspect="true"/>
          </p:cNvPicPr>
          <p:nvPr/>
        </p:nvPicPr>
        <p:blipFill>
          <a:blip r:embed="rId3"/>
          <a:stretch>
            <a:fillRect/>
          </a:stretch>
        </p:blipFill>
        <p:spPr>
          <a:xfrm>
            <a:off x="4495800" y="1612900"/>
            <a:ext cx="3619500" cy="990600"/>
          </a:xfrm>
          <a:prstGeom prst="rect">
            <a:avLst/>
          </a:prstGeom>
        </p:spPr>
      </p:pic>
      <p:pic>
        <p:nvPicPr>
          <p:cNvPr name="Picture 21" id="21"/>
          <p:cNvPicPr>
            <a:picLocks noChangeAspect="true"/>
          </p:cNvPicPr>
          <p:nvPr/>
        </p:nvPicPr>
        <p:blipFill>
          <a:blip r:embed="rId3"/>
          <a:stretch>
            <a:fillRect/>
          </a:stretch>
        </p:blipFill>
        <p:spPr>
          <a:xfrm>
            <a:off x="8128000" y="1612900"/>
            <a:ext cx="3619500" cy="990600"/>
          </a:xfrm>
          <a:prstGeom prst="rect">
            <a:avLst/>
          </a:prstGeom>
        </p:spPr>
      </p:pic>
      <p:pic>
        <p:nvPicPr>
          <p:cNvPr name="Picture 22" id="22"/>
          <p:cNvPicPr>
            <a:picLocks noChangeAspect="true"/>
          </p:cNvPicPr>
          <p:nvPr/>
        </p:nvPicPr>
        <p:blipFill>
          <a:blip r:embed="rId3"/>
          <a:stretch>
            <a:fillRect/>
          </a:stretch>
        </p:blipFill>
        <p:spPr>
          <a:xfrm>
            <a:off x="11747500" y="1612900"/>
            <a:ext cx="3619500" cy="990600"/>
          </a:xfrm>
          <a:prstGeom prst="rect">
            <a:avLst/>
          </a:prstGeom>
        </p:spPr>
      </p:pic>
      <p:pic>
        <p:nvPicPr>
          <p:cNvPr name="Picture 23" id="23"/>
          <p:cNvPicPr>
            <a:picLocks noChangeAspect="true"/>
          </p:cNvPicPr>
          <p:nvPr/>
        </p:nvPicPr>
        <p:blipFill>
          <a:blip r:embed="rId3"/>
          <a:stretch>
            <a:fillRect/>
          </a:stretch>
        </p:blipFill>
        <p:spPr>
          <a:xfrm>
            <a:off x="876300" y="5003800"/>
            <a:ext cx="3619500" cy="990600"/>
          </a:xfrm>
          <a:prstGeom prst="rect">
            <a:avLst/>
          </a:prstGeom>
        </p:spPr>
      </p:pic>
      <p:pic>
        <p:nvPicPr>
          <p:cNvPr name="Picture 24" id="24"/>
          <p:cNvPicPr>
            <a:picLocks noChangeAspect="true"/>
          </p:cNvPicPr>
          <p:nvPr/>
        </p:nvPicPr>
        <p:blipFill>
          <a:blip r:embed="rId3"/>
          <a:stretch>
            <a:fillRect/>
          </a:stretch>
        </p:blipFill>
        <p:spPr>
          <a:xfrm>
            <a:off x="4495800" y="5003800"/>
            <a:ext cx="3619500" cy="990600"/>
          </a:xfrm>
          <a:prstGeom prst="rect">
            <a:avLst/>
          </a:prstGeom>
        </p:spPr>
      </p:pic>
      <p:pic>
        <p:nvPicPr>
          <p:cNvPr name="Picture 25" id="25"/>
          <p:cNvPicPr>
            <a:picLocks noChangeAspect="true"/>
          </p:cNvPicPr>
          <p:nvPr/>
        </p:nvPicPr>
        <p:blipFill>
          <a:blip r:embed="rId3"/>
          <a:stretch>
            <a:fillRect/>
          </a:stretch>
        </p:blipFill>
        <p:spPr>
          <a:xfrm>
            <a:off x="8128000" y="5003800"/>
            <a:ext cx="3619500" cy="990600"/>
          </a:xfrm>
          <a:prstGeom prst="rect">
            <a:avLst/>
          </a:prstGeom>
        </p:spPr>
      </p:pic>
      <p:sp>
        <p:nvSpPr>
          <p:cNvPr name="TextBox 26" id="26"/>
          <p:cNvSpPr txBox="true"/>
          <p:nvPr/>
        </p:nvSpPr>
        <p:spPr>
          <a:xfrm>
            <a:off x="876300" y="7239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FFFFFF"/>
                </a:solidFill>
                <a:latin typeface="Aboreto"/>
              </a:rPr>
              <a:t>System Architecture Overview</a:t>
            </a:r>
            <a:endParaRPr lang="en-US" sz="1100"/>
          </a:p>
        </p:txBody>
      </p:sp>
      <p:sp>
        <p:nvSpPr>
          <p:cNvPr name="TextBox 27" id="27"/>
          <p:cNvSpPr txBox="true"/>
          <p:nvPr/>
        </p:nvSpPr>
        <p:spPr>
          <a:xfrm>
            <a:off x="876300" y="1955800"/>
            <a:ext cx="3619500" cy="2921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1900" b="true">
                <a:solidFill>
                  <a:srgbClr val="FFFFFF"/>
                </a:solidFill>
                <a:highlight>
                  <a:srgbClr val="000000">
                    <a:alpha val="0"/>
                  </a:srgbClr>
                </a:highlight>
                <a:latin typeface="Aboreto"/>
              </a:rPr>
              <a:t>1</a:t>
            </a:r>
            <a:endParaRPr lang="en-US" sz="1100"/>
          </a:p>
        </p:txBody>
      </p:sp>
      <p:sp>
        <p:nvSpPr>
          <p:cNvPr name="TextBox 28" id="28"/>
          <p:cNvSpPr txBox="true"/>
          <p:nvPr/>
        </p:nvSpPr>
        <p:spPr>
          <a:xfrm>
            <a:off x="1130300" y="2921000"/>
            <a:ext cx="31115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User Query</a:t>
            </a:r>
            <a:endParaRPr lang="en-US" sz="1100"/>
          </a:p>
        </p:txBody>
      </p:sp>
      <p:sp>
        <p:nvSpPr>
          <p:cNvPr name="TextBox 29" id="29"/>
          <p:cNvSpPr txBox="true"/>
          <p:nvPr/>
        </p:nvSpPr>
        <p:spPr>
          <a:xfrm>
            <a:off x="4495800" y="1955800"/>
            <a:ext cx="3619500" cy="2921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1900" b="true">
                <a:solidFill>
                  <a:srgbClr val="FFFFFF"/>
                </a:solidFill>
                <a:highlight>
                  <a:srgbClr val="000000">
                    <a:alpha val="0"/>
                  </a:srgbClr>
                </a:highlight>
                <a:latin typeface="Aboreto"/>
              </a:rPr>
              <a:t>2</a:t>
            </a:r>
            <a:endParaRPr lang="en-US" sz="1100"/>
          </a:p>
        </p:txBody>
      </p:sp>
      <p:sp>
        <p:nvSpPr>
          <p:cNvPr name="TextBox 30" id="30"/>
          <p:cNvSpPr txBox="true"/>
          <p:nvPr/>
        </p:nvSpPr>
        <p:spPr>
          <a:xfrm>
            <a:off x="4749800" y="2921000"/>
            <a:ext cx="31115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Embedding</a:t>
            </a:r>
            <a:endParaRPr lang="en-US" sz="1100"/>
          </a:p>
        </p:txBody>
      </p:sp>
      <p:sp>
        <p:nvSpPr>
          <p:cNvPr name="TextBox 31" id="31"/>
          <p:cNvSpPr txBox="true"/>
          <p:nvPr/>
        </p:nvSpPr>
        <p:spPr>
          <a:xfrm>
            <a:off x="8128000" y="1955800"/>
            <a:ext cx="3619500" cy="2921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1900" b="true">
                <a:solidFill>
                  <a:srgbClr val="FFFFFF"/>
                </a:solidFill>
                <a:highlight>
                  <a:srgbClr val="000000">
                    <a:alpha val="0"/>
                  </a:srgbClr>
                </a:highlight>
                <a:latin typeface="Aboreto"/>
              </a:rPr>
              <a:t>3</a:t>
            </a:r>
            <a:endParaRPr lang="en-US" sz="1100"/>
          </a:p>
        </p:txBody>
      </p:sp>
      <p:sp>
        <p:nvSpPr>
          <p:cNvPr name="TextBox 32" id="32"/>
          <p:cNvSpPr txBox="true"/>
          <p:nvPr/>
        </p:nvSpPr>
        <p:spPr>
          <a:xfrm>
            <a:off x="8369300" y="2921000"/>
            <a:ext cx="31115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Vector Search</a:t>
            </a:r>
            <a:endParaRPr lang="en-US" sz="1100"/>
          </a:p>
        </p:txBody>
      </p:sp>
      <p:sp>
        <p:nvSpPr>
          <p:cNvPr name="TextBox 33" id="33"/>
          <p:cNvSpPr txBox="true"/>
          <p:nvPr/>
        </p:nvSpPr>
        <p:spPr>
          <a:xfrm>
            <a:off x="11747500" y="1955800"/>
            <a:ext cx="3619500" cy="2921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1900" b="true">
                <a:solidFill>
                  <a:srgbClr val="FFFFFF"/>
                </a:solidFill>
                <a:highlight>
                  <a:srgbClr val="000000">
                    <a:alpha val="0"/>
                  </a:srgbClr>
                </a:highlight>
                <a:latin typeface="Aboreto"/>
              </a:rPr>
              <a:t>4</a:t>
            </a:r>
            <a:endParaRPr lang="en-US" sz="1100"/>
          </a:p>
        </p:txBody>
      </p:sp>
      <p:sp>
        <p:nvSpPr>
          <p:cNvPr name="TextBox 34" id="34"/>
          <p:cNvSpPr txBox="true"/>
          <p:nvPr/>
        </p:nvSpPr>
        <p:spPr>
          <a:xfrm>
            <a:off x="12001500" y="2921000"/>
            <a:ext cx="31115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Re-ranking</a:t>
            </a:r>
            <a:endParaRPr lang="en-US" sz="1100"/>
          </a:p>
        </p:txBody>
      </p:sp>
      <p:sp>
        <p:nvSpPr>
          <p:cNvPr name="TextBox 35" id="35"/>
          <p:cNvSpPr txBox="true"/>
          <p:nvPr/>
        </p:nvSpPr>
        <p:spPr>
          <a:xfrm>
            <a:off x="876300" y="5359400"/>
            <a:ext cx="3619500" cy="2921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1900" b="true">
                <a:solidFill>
                  <a:srgbClr val="FFFFFF"/>
                </a:solidFill>
                <a:highlight>
                  <a:srgbClr val="000000">
                    <a:alpha val="0"/>
                  </a:srgbClr>
                </a:highlight>
                <a:latin typeface="Aboreto"/>
              </a:rPr>
              <a:t>5</a:t>
            </a:r>
            <a:endParaRPr lang="en-US" sz="1100"/>
          </a:p>
        </p:txBody>
      </p:sp>
      <p:sp>
        <p:nvSpPr>
          <p:cNvPr name="TextBox 36" id="36"/>
          <p:cNvSpPr txBox="true"/>
          <p:nvPr/>
        </p:nvSpPr>
        <p:spPr>
          <a:xfrm>
            <a:off x="1130300" y="6324600"/>
            <a:ext cx="31115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LLM</a:t>
            </a:r>
            <a:endParaRPr lang="en-US" sz="1100"/>
          </a:p>
        </p:txBody>
      </p:sp>
      <p:sp>
        <p:nvSpPr>
          <p:cNvPr name="TextBox 37" id="37"/>
          <p:cNvSpPr txBox="true"/>
          <p:nvPr/>
        </p:nvSpPr>
        <p:spPr>
          <a:xfrm>
            <a:off x="4495800" y="5359400"/>
            <a:ext cx="3619500" cy="2921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1900" b="true">
                <a:solidFill>
                  <a:srgbClr val="FFFFFF"/>
                </a:solidFill>
                <a:highlight>
                  <a:srgbClr val="000000">
                    <a:alpha val="0"/>
                  </a:srgbClr>
                </a:highlight>
                <a:latin typeface="Aboreto"/>
              </a:rPr>
              <a:t>6</a:t>
            </a:r>
            <a:endParaRPr lang="en-US" sz="1100"/>
          </a:p>
        </p:txBody>
      </p:sp>
      <p:sp>
        <p:nvSpPr>
          <p:cNvPr name="TextBox 38" id="38"/>
          <p:cNvSpPr txBox="true"/>
          <p:nvPr/>
        </p:nvSpPr>
        <p:spPr>
          <a:xfrm>
            <a:off x="4749800" y="6324600"/>
            <a:ext cx="31115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Citations</a:t>
            </a:r>
            <a:endParaRPr lang="en-US" sz="1100"/>
          </a:p>
        </p:txBody>
      </p:sp>
      <p:sp>
        <p:nvSpPr>
          <p:cNvPr name="TextBox 39" id="39"/>
          <p:cNvSpPr txBox="true"/>
          <p:nvPr/>
        </p:nvSpPr>
        <p:spPr>
          <a:xfrm>
            <a:off x="8128000" y="5359400"/>
            <a:ext cx="3619500" cy="292100"/>
          </a:xfrm>
          <a:prstGeom prst="rect">
            <a:avLst/>
          </a:prstGeom>
          <a:solidFill>
            <a:srgbClr val="000000">
              <a:alpha val="0"/>
            </a:srgbClr>
          </a:solidFill>
        </p:spPr>
        <p:txBody>
          <a:bodyPr anchor="ctr" rtlCol="false" rIns="0" lIns="0" tIns="0" bIns="0"/>
          <a:lstStyle/>
          <a:p>
            <a:pPr algn="ctr" indent="0">
              <a:lnSpc>
                <a:spcPct val="120000"/>
              </a:lnSpc>
              <a:defRPr/>
            </a:pPr>
            <a:r>
              <a:rPr lang="en-US"/>
              <a:t/>
            </a:r>
            <a:r>
              <a:rPr lang="en-US" sz="1900" b="true">
                <a:solidFill>
                  <a:srgbClr val="FFFFFF"/>
                </a:solidFill>
                <a:highlight>
                  <a:srgbClr val="000000">
                    <a:alpha val="0"/>
                  </a:srgbClr>
                </a:highlight>
                <a:latin typeface="Aboreto"/>
              </a:rPr>
              <a:t>7</a:t>
            </a:r>
            <a:endParaRPr lang="en-US" sz="1100"/>
          </a:p>
        </p:txBody>
      </p:sp>
      <p:sp>
        <p:nvSpPr>
          <p:cNvPr name="TextBox 40" id="40"/>
          <p:cNvSpPr txBox="true"/>
          <p:nvPr/>
        </p:nvSpPr>
        <p:spPr>
          <a:xfrm>
            <a:off x="8369300" y="6324600"/>
            <a:ext cx="31115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Answer Output</a:t>
            </a:r>
            <a:endParaRPr lang="en-US" sz="1100"/>
          </a:p>
        </p:txBody>
      </p:sp>
      <p:sp>
        <p:nvSpPr>
          <p:cNvPr name="TextBox 41" id="41"/>
          <p:cNvSpPr txBox="true"/>
          <p:nvPr/>
        </p:nvSpPr>
        <p:spPr>
          <a:xfrm>
            <a:off x="1130300" y="3543300"/>
            <a:ext cx="31115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Initial user input that triggers the RAG pipeline process</a:t>
            </a:r>
            <a:endParaRPr lang="en-US" sz="1100"/>
          </a:p>
        </p:txBody>
      </p:sp>
      <p:sp>
        <p:nvSpPr>
          <p:cNvPr name="TextBox 42" id="42"/>
          <p:cNvSpPr txBox="true"/>
          <p:nvPr/>
        </p:nvSpPr>
        <p:spPr>
          <a:xfrm>
            <a:off x="4749800" y="3543300"/>
            <a:ext cx="31115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Converts the query into numerical vector representation</a:t>
            </a:r>
            <a:endParaRPr lang="en-US" sz="1100"/>
          </a:p>
        </p:txBody>
      </p:sp>
      <p:sp>
        <p:nvSpPr>
          <p:cNvPr name="TextBox 43" id="43"/>
          <p:cNvSpPr txBox="true"/>
          <p:nvPr/>
        </p:nvSpPr>
        <p:spPr>
          <a:xfrm>
            <a:off x="8369300" y="4000500"/>
            <a:ext cx="31115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Searches knowledge base for semantically similar content</a:t>
            </a:r>
            <a:endParaRPr lang="en-US" sz="1100"/>
          </a:p>
        </p:txBody>
      </p:sp>
      <p:sp>
        <p:nvSpPr>
          <p:cNvPr name="TextBox 44" id="44"/>
          <p:cNvSpPr txBox="true"/>
          <p:nvPr/>
        </p:nvSpPr>
        <p:spPr>
          <a:xfrm>
            <a:off x="12001500" y="3543300"/>
            <a:ext cx="31115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Prioritizes and filters the most relevant search results</a:t>
            </a:r>
            <a:endParaRPr lang="en-US" sz="1100"/>
          </a:p>
        </p:txBody>
      </p:sp>
      <p:sp>
        <p:nvSpPr>
          <p:cNvPr name="TextBox 45" id="45"/>
          <p:cNvSpPr txBox="true"/>
          <p:nvPr/>
        </p:nvSpPr>
        <p:spPr>
          <a:xfrm>
            <a:off x="1130300" y="6946900"/>
            <a:ext cx="31115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Generates contextual response using retrieved information</a:t>
            </a:r>
            <a:endParaRPr lang="en-US" sz="1100"/>
          </a:p>
        </p:txBody>
      </p:sp>
      <p:sp>
        <p:nvSpPr>
          <p:cNvPr name="TextBox 46" id="46"/>
          <p:cNvSpPr txBox="true"/>
          <p:nvPr/>
        </p:nvSpPr>
        <p:spPr>
          <a:xfrm>
            <a:off x="4749800" y="6946900"/>
            <a:ext cx="31115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Attaches source references to generated content</a:t>
            </a:r>
            <a:endParaRPr lang="en-US" sz="1100"/>
          </a:p>
        </p:txBody>
      </p:sp>
      <p:sp>
        <p:nvSpPr>
          <p:cNvPr name="TextBox 47" id="47"/>
          <p:cNvSpPr txBox="true"/>
          <p:nvPr/>
        </p:nvSpPr>
        <p:spPr>
          <a:xfrm>
            <a:off x="8369300" y="7404100"/>
            <a:ext cx="31115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Final formatted response delivered to the user</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1574800"/>
            <a:ext cx="14490700" cy="6870700"/>
          </a:xfrm>
          <a:prstGeom prst="rect">
            <a:avLst/>
          </a:prstGeom>
          <a:solidFill>
            <a:srgbClr val="000000">
              <a:alpha val="0"/>
            </a:srgbClr>
          </a:solidFill>
        </p:spPr>
      </p:sp>
      <p:sp>
        <p:nvSpPr>
          <p:cNvPr name="AutoShape 5" id="5"/>
          <p:cNvSpPr/>
          <p:nvPr/>
        </p:nvSpPr>
        <p:spPr>
          <a:xfrm>
            <a:off x="876300" y="1574800"/>
            <a:ext cx="3429000" cy="6870700"/>
          </a:xfrm>
          <a:prstGeom prst="rect">
            <a:avLst/>
          </a:prstGeom>
          <a:solidFill>
            <a:srgbClr val="2A345E">
              <a:alpha val="66667"/>
            </a:srgbClr>
          </a:solidFill>
        </p:spPr>
      </p:sp>
      <p:sp>
        <p:nvSpPr>
          <p:cNvPr name="AutoShape 6" id="6"/>
          <p:cNvSpPr/>
          <p:nvPr/>
        </p:nvSpPr>
        <p:spPr>
          <a:xfrm>
            <a:off x="1130300" y="1816100"/>
            <a:ext cx="749300" cy="749300"/>
          </a:xfrm>
          <a:prstGeom prst="roundRect">
            <a:avLst>
              <a:gd name="adj" fmla="val 49152"/>
            </a:avLst>
          </a:prstGeom>
          <a:solidFill>
            <a:srgbClr val="4E37C1"/>
          </a:solidFill>
        </p:spPr>
      </p:sp>
      <p:sp>
        <p:nvSpPr>
          <p:cNvPr name="AutoShape 7" id="7"/>
          <p:cNvSpPr/>
          <p:nvPr/>
        </p:nvSpPr>
        <p:spPr>
          <a:xfrm>
            <a:off x="4559300" y="1574800"/>
            <a:ext cx="3429000" cy="6870700"/>
          </a:xfrm>
          <a:prstGeom prst="rect">
            <a:avLst/>
          </a:prstGeom>
          <a:solidFill>
            <a:srgbClr val="2A345E">
              <a:alpha val="66667"/>
            </a:srgbClr>
          </a:solidFill>
        </p:spPr>
      </p:sp>
      <p:sp>
        <p:nvSpPr>
          <p:cNvPr name="AutoShape 8" id="8"/>
          <p:cNvSpPr/>
          <p:nvPr/>
        </p:nvSpPr>
        <p:spPr>
          <a:xfrm>
            <a:off x="4813300" y="1816100"/>
            <a:ext cx="749300" cy="749300"/>
          </a:xfrm>
          <a:prstGeom prst="roundRect">
            <a:avLst>
              <a:gd name="adj" fmla="val 49152"/>
            </a:avLst>
          </a:prstGeom>
          <a:solidFill>
            <a:srgbClr val="4E37C1"/>
          </a:solidFill>
        </p:spPr>
      </p:sp>
      <p:sp>
        <p:nvSpPr>
          <p:cNvPr name="AutoShape 9" id="9"/>
          <p:cNvSpPr/>
          <p:nvPr/>
        </p:nvSpPr>
        <p:spPr>
          <a:xfrm>
            <a:off x="8242300" y="1574800"/>
            <a:ext cx="3429000" cy="6870700"/>
          </a:xfrm>
          <a:prstGeom prst="rect">
            <a:avLst/>
          </a:prstGeom>
          <a:solidFill>
            <a:srgbClr val="2A345E">
              <a:alpha val="66667"/>
            </a:srgbClr>
          </a:solidFill>
        </p:spPr>
      </p:sp>
      <p:sp>
        <p:nvSpPr>
          <p:cNvPr name="AutoShape 10" id="10"/>
          <p:cNvSpPr/>
          <p:nvPr/>
        </p:nvSpPr>
        <p:spPr>
          <a:xfrm>
            <a:off x="8496300" y="1816100"/>
            <a:ext cx="749300" cy="749300"/>
          </a:xfrm>
          <a:prstGeom prst="roundRect">
            <a:avLst>
              <a:gd name="adj" fmla="val 49152"/>
            </a:avLst>
          </a:prstGeom>
          <a:solidFill>
            <a:srgbClr val="4E37C1"/>
          </a:solidFill>
        </p:spPr>
      </p:sp>
      <p:sp>
        <p:nvSpPr>
          <p:cNvPr name="AutoShape 11" id="11"/>
          <p:cNvSpPr/>
          <p:nvPr/>
        </p:nvSpPr>
        <p:spPr>
          <a:xfrm>
            <a:off x="11938000" y="1574800"/>
            <a:ext cx="3429000" cy="6870700"/>
          </a:xfrm>
          <a:prstGeom prst="rect">
            <a:avLst/>
          </a:prstGeom>
          <a:solidFill>
            <a:srgbClr val="2A345E">
              <a:alpha val="66667"/>
            </a:srgbClr>
          </a:solidFill>
        </p:spPr>
      </p:sp>
      <p:sp>
        <p:nvSpPr>
          <p:cNvPr name="AutoShape 12" id="12"/>
          <p:cNvSpPr/>
          <p:nvPr/>
        </p:nvSpPr>
        <p:spPr>
          <a:xfrm>
            <a:off x="12192000" y="1816100"/>
            <a:ext cx="749300" cy="749300"/>
          </a:xfrm>
          <a:prstGeom prst="roundRect">
            <a:avLst>
              <a:gd name="adj" fmla="val 49152"/>
            </a:avLst>
          </a:prstGeom>
          <a:solidFill>
            <a:srgbClr val="4E37C1"/>
          </a:solidFill>
        </p:spPr>
      </p:sp>
      <p:sp>
        <p:nvSpPr>
          <p:cNvPr name="TextBox 13" id="13"/>
          <p:cNvSpPr txBox="true"/>
          <p:nvPr/>
        </p:nvSpPr>
        <p:spPr>
          <a:xfrm>
            <a:off x="876300" y="6858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FFFFFF"/>
                </a:solidFill>
                <a:latin typeface="Aboreto"/>
              </a:rPr>
              <a:t>Retrieval System: FAISS + SentenceTransformers</a:t>
            </a:r>
            <a:endParaRPr lang="en-US" sz="1100"/>
          </a:p>
        </p:txBody>
      </p:sp>
      <p:sp>
        <p:nvSpPr>
          <p:cNvPr name="TextBox 14" id="14"/>
          <p:cNvSpPr txBox="true"/>
          <p:nvPr/>
        </p:nvSpPr>
        <p:spPr>
          <a:xfrm>
            <a:off x="1130300" y="2819400"/>
            <a:ext cx="2921000" cy="18034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Vector Search Fundamentals</a:t>
            </a:r>
            <a:endParaRPr lang="en-US" sz="1100"/>
          </a:p>
        </p:txBody>
      </p:sp>
      <p:sp>
        <p:nvSpPr>
          <p:cNvPr name="TextBox 15" id="15"/>
          <p:cNvSpPr txBox="true"/>
          <p:nvPr/>
        </p:nvSpPr>
        <p:spPr>
          <a:xfrm>
            <a:off x="4813300" y="2819400"/>
            <a:ext cx="2921000" cy="13462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Document Chunking Strategy</a:t>
            </a:r>
            <a:endParaRPr lang="en-US" sz="1100"/>
          </a:p>
        </p:txBody>
      </p:sp>
      <p:sp>
        <p:nvSpPr>
          <p:cNvPr name="TextBox 16" id="16"/>
          <p:cNvSpPr txBox="true"/>
          <p:nvPr/>
        </p:nvSpPr>
        <p:spPr>
          <a:xfrm>
            <a:off x="8496300" y="2819400"/>
            <a:ext cx="2921000" cy="13462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SentenceTransformers Embeddings</a:t>
            </a:r>
            <a:endParaRPr lang="en-US" sz="1100"/>
          </a:p>
        </p:txBody>
      </p:sp>
      <p:sp>
        <p:nvSpPr>
          <p:cNvPr name="TextBox 17" id="17"/>
          <p:cNvSpPr txBox="true"/>
          <p:nvPr/>
        </p:nvSpPr>
        <p:spPr>
          <a:xfrm>
            <a:off x="12179300" y="2819400"/>
            <a:ext cx="29210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FAISS Indexing</a:t>
            </a:r>
            <a:endParaRPr lang="en-US" sz="1100"/>
          </a:p>
        </p:txBody>
      </p:sp>
      <p:sp>
        <p:nvSpPr>
          <p:cNvPr name="TextBox 18" id="18"/>
          <p:cNvSpPr txBox="true"/>
          <p:nvPr/>
        </p:nvSpPr>
        <p:spPr>
          <a:xfrm>
            <a:off x="1130300" y="4813300"/>
            <a:ext cx="2921000" cy="33782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Vector search enables semantic document retrieval by converting text to numerical representations. This approach captures contextual meaning better than simple keyword matching.</a:t>
            </a:r>
            <a:endParaRPr lang="en-US" sz="1100"/>
          </a:p>
        </p:txBody>
      </p:sp>
      <p:sp>
        <p:nvSpPr>
          <p:cNvPr name="TextBox 19" id="19"/>
          <p:cNvSpPr txBox="true"/>
          <p:nvPr/>
        </p:nvSpPr>
        <p:spPr>
          <a:xfrm>
            <a:off x="4813300" y="4356100"/>
            <a:ext cx="2921000" cy="22479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Course materials are split into manageable chunks (typically 256-512 tokens with some overlap) to preserve context while keeping retrieval efficient.</a:t>
            </a:r>
            <a:endParaRPr lang="en-US" sz="1100"/>
          </a:p>
        </p:txBody>
      </p:sp>
      <p:sp>
        <p:nvSpPr>
          <p:cNvPr name="TextBox 20" id="20"/>
          <p:cNvSpPr txBox="true"/>
          <p:nvPr/>
        </p:nvSpPr>
        <p:spPr>
          <a:xfrm>
            <a:off x="8496300" y="4356100"/>
            <a:ext cx="2921000" cy="30099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Uses all-MiniLM-L6-v2 model, a lightweight embedding model well-suited for semantic similarity tasks. It's efficient enough to run in our Google Colab environment.</a:t>
            </a:r>
            <a:endParaRPr lang="en-US" sz="1100"/>
          </a:p>
        </p:txBody>
      </p:sp>
      <p:sp>
        <p:nvSpPr>
          <p:cNvPr name="TextBox 21" id="21"/>
          <p:cNvSpPr txBox="true"/>
          <p:nvPr/>
        </p:nvSpPr>
        <p:spPr>
          <a:xfrm>
            <a:off x="12179300" y="3898900"/>
            <a:ext cx="2921000" cy="26289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FAISS (flat index) provides fast similarity search over the embedded course materials, enabling quick retrieval of relevant documents for any student query.</a:t>
            </a:r>
            <a:endParaRPr lang="en-US" sz="1100"/>
          </a:p>
        </p:txBody>
      </p:sp>
      <p:pic>
        <p:nvPicPr>
          <p:cNvPr name="Picture 22" id="22"/>
          <p:cNvPicPr>
            <a:picLocks noChangeAspect="true"/>
          </p:cNvPicPr>
          <p:nvPr/>
        </p:nvPicPr>
        <p:blipFill>
          <a:blip r:embed="rId3"/>
          <a:srcRect l="0" r="0"/>
          <a:stretch>
            <a:fillRect/>
          </a:stretch>
        </p:blipFill>
        <p:spPr>
          <a:xfrm>
            <a:off x="1384300" y="2070100"/>
            <a:ext cx="241300" cy="241300"/>
          </a:xfrm>
          <a:prstGeom prst="rect">
            <a:avLst/>
          </a:prstGeom>
        </p:spPr>
      </p:pic>
      <p:pic>
        <p:nvPicPr>
          <p:cNvPr name="Picture 23" id="23"/>
          <p:cNvPicPr>
            <a:picLocks noChangeAspect="true"/>
          </p:cNvPicPr>
          <p:nvPr/>
        </p:nvPicPr>
        <p:blipFill>
          <a:blip r:embed="rId3"/>
          <a:srcRect l="0" r="0"/>
          <a:stretch>
            <a:fillRect/>
          </a:stretch>
        </p:blipFill>
        <p:spPr>
          <a:xfrm>
            <a:off x="5067300" y="2070100"/>
            <a:ext cx="241300" cy="241300"/>
          </a:xfrm>
          <a:prstGeom prst="rect">
            <a:avLst/>
          </a:prstGeom>
        </p:spPr>
      </p:pic>
      <p:pic>
        <p:nvPicPr>
          <p:cNvPr name="Picture 24" id="24"/>
          <p:cNvPicPr>
            <a:picLocks noChangeAspect="true"/>
          </p:cNvPicPr>
          <p:nvPr/>
        </p:nvPicPr>
        <p:blipFill>
          <a:blip r:embed="rId4"/>
          <a:srcRect l="0" r="0"/>
          <a:stretch>
            <a:fillRect/>
          </a:stretch>
        </p:blipFill>
        <p:spPr>
          <a:xfrm>
            <a:off x="8750300" y="2070100"/>
            <a:ext cx="241300" cy="241300"/>
          </a:xfrm>
          <a:prstGeom prst="rect">
            <a:avLst/>
          </a:prstGeom>
        </p:spPr>
      </p:pic>
      <p:pic>
        <p:nvPicPr>
          <p:cNvPr name="Picture 25" id="25"/>
          <p:cNvPicPr>
            <a:picLocks noChangeAspect="true"/>
          </p:cNvPicPr>
          <p:nvPr/>
        </p:nvPicPr>
        <p:blipFill>
          <a:blip r:embed="rId5"/>
          <a:srcRect l="6000" r="6000"/>
          <a:stretch>
            <a:fillRect/>
          </a:stretch>
        </p:blipFill>
        <p:spPr>
          <a:xfrm>
            <a:off x="12458700" y="2070100"/>
            <a:ext cx="215900" cy="2413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2692400"/>
            <a:ext cx="14490700" cy="5232400"/>
          </a:xfrm>
          <a:prstGeom prst="rect">
            <a:avLst/>
          </a:prstGeom>
          <a:solidFill>
            <a:srgbClr val="000000">
              <a:alpha val="0"/>
            </a:srgbClr>
          </a:solidFill>
        </p:spPr>
      </p:sp>
      <p:sp>
        <p:nvSpPr>
          <p:cNvPr name="AutoShape 5" id="5"/>
          <p:cNvSpPr/>
          <p:nvPr/>
        </p:nvSpPr>
        <p:spPr>
          <a:xfrm>
            <a:off x="876300" y="2692400"/>
            <a:ext cx="4660900" cy="5232400"/>
          </a:xfrm>
          <a:prstGeom prst="rect">
            <a:avLst/>
          </a:prstGeom>
          <a:solidFill>
            <a:srgbClr val="2A345E">
              <a:alpha val="66667"/>
            </a:srgbClr>
          </a:solidFill>
        </p:spPr>
      </p:sp>
      <p:sp>
        <p:nvSpPr>
          <p:cNvPr name="AutoShape 6" id="6"/>
          <p:cNvSpPr/>
          <p:nvPr/>
        </p:nvSpPr>
        <p:spPr>
          <a:xfrm>
            <a:off x="1130300" y="2946400"/>
            <a:ext cx="749300" cy="749300"/>
          </a:xfrm>
          <a:prstGeom prst="roundRect">
            <a:avLst>
              <a:gd name="adj" fmla="val 49152"/>
            </a:avLst>
          </a:prstGeom>
          <a:solidFill>
            <a:srgbClr val="4E37C1"/>
          </a:solidFill>
        </p:spPr>
      </p:sp>
      <p:sp>
        <p:nvSpPr>
          <p:cNvPr name="AutoShape 7" id="7"/>
          <p:cNvSpPr/>
          <p:nvPr/>
        </p:nvSpPr>
        <p:spPr>
          <a:xfrm>
            <a:off x="5791200" y="2692400"/>
            <a:ext cx="4660900" cy="5232400"/>
          </a:xfrm>
          <a:prstGeom prst="rect">
            <a:avLst/>
          </a:prstGeom>
          <a:solidFill>
            <a:srgbClr val="2A345E">
              <a:alpha val="66667"/>
            </a:srgbClr>
          </a:solidFill>
        </p:spPr>
      </p:sp>
      <p:sp>
        <p:nvSpPr>
          <p:cNvPr name="AutoShape 8" id="8"/>
          <p:cNvSpPr/>
          <p:nvPr/>
        </p:nvSpPr>
        <p:spPr>
          <a:xfrm>
            <a:off x="6045200" y="2946400"/>
            <a:ext cx="749300" cy="749300"/>
          </a:xfrm>
          <a:prstGeom prst="roundRect">
            <a:avLst>
              <a:gd name="adj" fmla="val 49152"/>
            </a:avLst>
          </a:prstGeom>
          <a:solidFill>
            <a:srgbClr val="4E37C1"/>
          </a:solidFill>
        </p:spPr>
      </p:sp>
      <p:sp>
        <p:nvSpPr>
          <p:cNvPr name="AutoShape 9" id="9"/>
          <p:cNvSpPr/>
          <p:nvPr/>
        </p:nvSpPr>
        <p:spPr>
          <a:xfrm>
            <a:off x="10706100" y="2692400"/>
            <a:ext cx="4660900" cy="5232400"/>
          </a:xfrm>
          <a:prstGeom prst="rect">
            <a:avLst/>
          </a:prstGeom>
          <a:solidFill>
            <a:srgbClr val="2A345E">
              <a:alpha val="66667"/>
            </a:srgbClr>
          </a:solidFill>
        </p:spPr>
      </p:sp>
      <p:sp>
        <p:nvSpPr>
          <p:cNvPr name="AutoShape 10" id="10"/>
          <p:cNvSpPr/>
          <p:nvPr/>
        </p:nvSpPr>
        <p:spPr>
          <a:xfrm>
            <a:off x="10960100" y="2946400"/>
            <a:ext cx="749300" cy="749300"/>
          </a:xfrm>
          <a:prstGeom prst="roundRect">
            <a:avLst>
              <a:gd name="adj" fmla="val 49152"/>
            </a:avLst>
          </a:prstGeom>
          <a:solidFill>
            <a:srgbClr val="4E37C1"/>
          </a:solidFill>
        </p:spPr>
      </p:sp>
      <p:sp>
        <p:nvSpPr>
          <p:cNvPr name="TextBox 11" id="11"/>
          <p:cNvSpPr txBox="true"/>
          <p:nvPr/>
        </p:nvSpPr>
        <p:spPr>
          <a:xfrm>
            <a:off x="876300" y="1193800"/>
            <a:ext cx="14490700" cy="1206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FFFFFF"/>
                </a:solidFill>
                <a:latin typeface="Aboreto"/>
              </a:rPr>
              <a:t>Potential Re-Ranking Layer: Future Accuracy Improvements</a:t>
            </a:r>
            <a:endParaRPr lang="en-US" sz="1100"/>
          </a:p>
        </p:txBody>
      </p:sp>
      <p:sp>
        <p:nvSpPr>
          <p:cNvPr name="TextBox 12" id="12"/>
          <p:cNvSpPr txBox="true"/>
          <p:nvPr/>
        </p:nvSpPr>
        <p:spPr>
          <a:xfrm>
            <a:off x="1130300" y="3949700"/>
            <a:ext cx="41529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How Re-Ranking Could Work</a:t>
            </a:r>
            <a:endParaRPr lang="en-US" sz="1100"/>
          </a:p>
        </p:txBody>
      </p:sp>
      <p:sp>
        <p:nvSpPr>
          <p:cNvPr name="TextBox 13" id="13"/>
          <p:cNvSpPr txBox="true"/>
          <p:nvPr/>
        </p:nvSpPr>
        <p:spPr>
          <a:xfrm>
            <a:off x="6045200" y="3949700"/>
            <a:ext cx="41529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Design Considerations</a:t>
            </a:r>
            <a:endParaRPr lang="en-US" sz="1100"/>
          </a:p>
        </p:txBody>
      </p:sp>
      <p:sp>
        <p:nvSpPr>
          <p:cNvPr name="TextBox 14" id="14"/>
          <p:cNvSpPr txBox="true"/>
          <p:nvPr/>
        </p:nvSpPr>
        <p:spPr>
          <a:xfrm>
            <a:off x="10960100" y="3949700"/>
            <a:ext cx="41529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Current Approach</a:t>
            </a:r>
            <a:endParaRPr lang="en-US" sz="1100"/>
          </a:p>
        </p:txBody>
      </p:sp>
      <p:sp>
        <p:nvSpPr>
          <p:cNvPr name="TextBox 15" id="15"/>
          <p:cNvSpPr txBox="true"/>
          <p:nvPr/>
        </p:nvSpPr>
        <p:spPr>
          <a:xfrm>
            <a:off x="1130300" y="5029200"/>
            <a:ext cx="4152900" cy="2641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A potential re-ranking step could further filter initial search results by computing more detailed relevance scores between the query and retrieved documents, ensuring only the most relevant material reaches the LLM.</a:t>
            </a:r>
            <a:endParaRPr lang="en-US" sz="1100"/>
          </a:p>
        </p:txBody>
      </p:sp>
      <p:sp>
        <p:nvSpPr>
          <p:cNvPr name="TextBox 16" id="16"/>
          <p:cNvSpPr txBox="true"/>
          <p:nvPr/>
        </p:nvSpPr>
        <p:spPr>
          <a:xfrm>
            <a:off x="6045200" y="5029200"/>
            <a:ext cx="41529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In future iterations, we could implement a cross-encoder model to improve accuracy of top results before passing them to the language model for answer generation.</a:t>
            </a:r>
            <a:endParaRPr lang="en-US" sz="1100"/>
          </a:p>
        </p:txBody>
      </p:sp>
      <p:sp>
        <p:nvSpPr>
          <p:cNvPr name="TextBox 17" id="17"/>
          <p:cNvSpPr txBox="true"/>
          <p:nvPr/>
        </p:nvSpPr>
        <p:spPr>
          <a:xfrm>
            <a:off x="10960100" y="4584700"/>
            <a:ext cx="41529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For the prototype, we use the ranking from FAISS vector similarity directly, which works well for most queries. The re-ranking layer remains a planned enhancement for future versions.</a:t>
            </a:r>
            <a:endParaRPr lang="en-US" sz="1100"/>
          </a:p>
        </p:txBody>
      </p:sp>
      <p:pic>
        <p:nvPicPr>
          <p:cNvPr name="Picture 18" id="18"/>
          <p:cNvPicPr>
            <a:picLocks noChangeAspect="true"/>
          </p:cNvPicPr>
          <p:nvPr/>
        </p:nvPicPr>
        <p:blipFill>
          <a:blip r:embed="rId3"/>
          <a:srcRect t="7000" b="7000"/>
          <a:stretch>
            <a:fillRect/>
          </a:stretch>
        </p:blipFill>
        <p:spPr>
          <a:xfrm>
            <a:off x="1358900" y="3200400"/>
            <a:ext cx="279400" cy="241300"/>
          </a:xfrm>
          <a:prstGeom prst="rect">
            <a:avLst/>
          </a:prstGeom>
        </p:spPr>
      </p:pic>
      <p:pic>
        <p:nvPicPr>
          <p:cNvPr name="Picture 19" id="19"/>
          <p:cNvPicPr>
            <a:picLocks noChangeAspect="true"/>
          </p:cNvPicPr>
          <p:nvPr/>
        </p:nvPicPr>
        <p:blipFill>
          <a:blip r:embed="rId4"/>
          <a:srcRect t="11000" b="11000"/>
          <a:stretch>
            <a:fillRect/>
          </a:stretch>
        </p:blipFill>
        <p:spPr>
          <a:xfrm>
            <a:off x="6261100" y="3200400"/>
            <a:ext cx="304800" cy="241300"/>
          </a:xfrm>
          <a:prstGeom prst="rect">
            <a:avLst/>
          </a:prstGeom>
        </p:spPr>
      </p:pic>
      <p:pic>
        <p:nvPicPr>
          <p:cNvPr name="Picture 20" id="20"/>
          <p:cNvPicPr>
            <a:picLocks noChangeAspect="true"/>
          </p:cNvPicPr>
          <p:nvPr/>
        </p:nvPicPr>
        <p:blipFill>
          <a:blip r:embed="rId5"/>
          <a:srcRect l="0" r="0"/>
          <a:stretch>
            <a:fillRect/>
          </a:stretch>
        </p:blipFill>
        <p:spPr>
          <a:xfrm>
            <a:off x="11214100" y="3200400"/>
            <a:ext cx="241300" cy="2413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3098800"/>
            <a:ext cx="14490700" cy="3810000"/>
          </a:xfrm>
          <a:prstGeom prst="rect">
            <a:avLst/>
          </a:prstGeom>
          <a:solidFill>
            <a:srgbClr val="000000">
              <a:alpha val="0"/>
            </a:srgbClr>
          </a:solidFill>
        </p:spPr>
      </p:sp>
      <p:sp>
        <p:nvSpPr>
          <p:cNvPr name="AutoShape 5" id="5"/>
          <p:cNvSpPr/>
          <p:nvPr/>
        </p:nvSpPr>
        <p:spPr>
          <a:xfrm>
            <a:off x="876300" y="3098800"/>
            <a:ext cx="4610100" cy="3810000"/>
          </a:xfrm>
          <a:prstGeom prst="rect">
            <a:avLst/>
          </a:prstGeom>
          <a:solidFill>
            <a:srgbClr val="000000">
              <a:alpha val="0"/>
            </a:srgbClr>
          </a:solidFill>
        </p:spPr>
      </p:sp>
      <p:sp>
        <p:nvSpPr>
          <p:cNvPr name="AutoShape 6" id="6"/>
          <p:cNvSpPr/>
          <p:nvPr/>
        </p:nvSpPr>
        <p:spPr>
          <a:xfrm>
            <a:off x="876300" y="3098800"/>
            <a:ext cx="558800" cy="558800"/>
          </a:xfrm>
          <a:prstGeom prst="rect">
            <a:avLst/>
          </a:prstGeom>
          <a:solidFill>
            <a:srgbClr val="2A345E"/>
          </a:solidFill>
        </p:spPr>
      </p:sp>
      <p:sp>
        <p:nvSpPr>
          <p:cNvPr name="AutoShape 7" id="7"/>
          <p:cNvSpPr/>
          <p:nvPr/>
        </p:nvSpPr>
        <p:spPr>
          <a:xfrm>
            <a:off x="5816600" y="3098800"/>
            <a:ext cx="4610100" cy="3810000"/>
          </a:xfrm>
          <a:prstGeom prst="rect">
            <a:avLst/>
          </a:prstGeom>
          <a:solidFill>
            <a:srgbClr val="000000">
              <a:alpha val="0"/>
            </a:srgbClr>
          </a:solidFill>
        </p:spPr>
      </p:sp>
      <p:sp>
        <p:nvSpPr>
          <p:cNvPr name="AutoShape 8" id="8"/>
          <p:cNvSpPr/>
          <p:nvPr/>
        </p:nvSpPr>
        <p:spPr>
          <a:xfrm>
            <a:off x="5816600" y="3098800"/>
            <a:ext cx="558800" cy="558800"/>
          </a:xfrm>
          <a:prstGeom prst="rect">
            <a:avLst/>
          </a:prstGeom>
          <a:solidFill>
            <a:srgbClr val="2A345E"/>
          </a:solidFill>
        </p:spPr>
      </p:sp>
      <p:sp>
        <p:nvSpPr>
          <p:cNvPr name="AutoShape 9" id="9"/>
          <p:cNvSpPr/>
          <p:nvPr/>
        </p:nvSpPr>
        <p:spPr>
          <a:xfrm>
            <a:off x="10744200" y="3098800"/>
            <a:ext cx="4610100" cy="3810000"/>
          </a:xfrm>
          <a:prstGeom prst="rect">
            <a:avLst/>
          </a:prstGeom>
          <a:solidFill>
            <a:srgbClr val="000000">
              <a:alpha val="0"/>
            </a:srgbClr>
          </a:solidFill>
        </p:spPr>
      </p:sp>
      <p:sp>
        <p:nvSpPr>
          <p:cNvPr name="AutoShape 10" id="10"/>
          <p:cNvSpPr/>
          <p:nvPr/>
        </p:nvSpPr>
        <p:spPr>
          <a:xfrm>
            <a:off x="10744200" y="3098800"/>
            <a:ext cx="558800" cy="558800"/>
          </a:xfrm>
          <a:prstGeom prst="rect">
            <a:avLst/>
          </a:prstGeom>
          <a:solidFill>
            <a:srgbClr val="2A345E"/>
          </a:solidFill>
        </p:spPr>
      </p:sp>
      <p:sp>
        <p:nvSpPr>
          <p:cNvPr name="TextBox 11" id="11"/>
          <p:cNvSpPr txBox="true"/>
          <p:nvPr/>
        </p:nvSpPr>
        <p:spPr>
          <a:xfrm>
            <a:off x="876300" y="22098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FFFFFF"/>
                </a:solidFill>
                <a:latin typeface="Aboreto"/>
              </a:rPr>
              <a:t>LLM Generation Module</a:t>
            </a:r>
            <a:endParaRPr lang="en-US" sz="1100"/>
          </a:p>
        </p:txBody>
      </p:sp>
      <p:sp>
        <p:nvSpPr>
          <p:cNvPr name="TextBox 12" id="12"/>
          <p:cNvSpPr txBox="true"/>
          <p:nvPr/>
        </p:nvSpPr>
        <p:spPr>
          <a:xfrm>
            <a:off x="1092200" y="3200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FFFFFF"/>
                </a:solidFill>
                <a:highlight>
                  <a:srgbClr val="000000">
                    <a:alpha val="0"/>
                  </a:srgbClr>
                </a:highlight>
                <a:latin typeface="Aboreto"/>
              </a:rPr>
              <a:t>1</a:t>
            </a:r>
            <a:endParaRPr lang="en-US" sz="1100"/>
          </a:p>
        </p:txBody>
      </p:sp>
      <p:sp>
        <p:nvSpPr>
          <p:cNvPr name="TextBox 13" id="13"/>
          <p:cNvSpPr txBox="true"/>
          <p:nvPr/>
        </p:nvSpPr>
        <p:spPr>
          <a:xfrm>
            <a:off x="1689100" y="3187700"/>
            <a:ext cx="37973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System Prompts</a:t>
            </a:r>
            <a:endParaRPr lang="en-US" sz="1100"/>
          </a:p>
        </p:txBody>
      </p:sp>
      <p:sp>
        <p:nvSpPr>
          <p:cNvPr name="TextBox 14" id="14"/>
          <p:cNvSpPr txBox="true"/>
          <p:nvPr/>
        </p:nvSpPr>
        <p:spPr>
          <a:xfrm>
            <a:off x="6007100" y="3200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FFFFFF"/>
                </a:solidFill>
                <a:highlight>
                  <a:srgbClr val="000000">
                    <a:alpha val="0"/>
                  </a:srgbClr>
                </a:highlight>
                <a:latin typeface="Aboreto"/>
              </a:rPr>
              <a:t>2</a:t>
            </a:r>
            <a:endParaRPr lang="en-US" sz="1100"/>
          </a:p>
        </p:txBody>
      </p:sp>
      <p:sp>
        <p:nvSpPr>
          <p:cNvPr name="TextBox 15" id="15"/>
          <p:cNvSpPr txBox="true"/>
          <p:nvPr/>
        </p:nvSpPr>
        <p:spPr>
          <a:xfrm>
            <a:off x="6629400" y="3187700"/>
            <a:ext cx="37973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Citation Injection</a:t>
            </a:r>
            <a:endParaRPr lang="en-US" sz="1100"/>
          </a:p>
        </p:txBody>
      </p:sp>
      <p:sp>
        <p:nvSpPr>
          <p:cNvPr name="TextBox 16" id="16"/>
          <p:cNvSpPr txBox="true"/>
          <p:nvPr/>
        </p:nvSpPr>
        <p:spPr>
          <a:xfrm>
            <a:off x="10947400" y="3200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FFFFFF"/>
                </a:solidFill>
                <a:highlight>
                  <a:srgbClr val="000000">
                    <a:alpha val="0"/>
                  </a:srgbClr>
                </a:highlight>
                <a:latin typeface="Aboreto"/>
              </a:rPr>
              <a:t>3</a:t>
            </a:r>
            <a:endParaRPr lang="en-US" sz="1100"/>
          </a:p>
        </p:txBody>
      </p:sp>
      <p:sp>
        <p:nvSpPr>
          <p:cNvPr name="TextBox 17" id="17"/>
          <p:cNvSpPr txBox="true"/>
          <p:nvPr/>
        </p:nvSpPr>
        <p:spPr>
          <a:xfrm>
            <a:off x="11569700" y="3187700"/>
            <a:ext cx="37973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Grounding in Documents</a:t>
            </a:r>
            <a:endParaRPr lang="en-US" sz="1100"/>
          </a:p>
        </p:txBody>
      </p:sp>
      <p:sp>
        <p:nvSpPr>
          <p:cNvPr name="TextBox 18" id="18"/>
          <p:cNvSpPr txBox="true"/>
          <p:nvPr/>
        </p:nvSpPr>
        <p:spPr>
          <a:xfrm>
            <a:off x="1689100" y="3822700"/>
            <a:ext cx="3797300" cy="2641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The language model receives clear instructions to only answer using the provided course materials. If a question cannot be answered from these materials, the system is instructed to say so rather than making something up.</a:t>
            </a:r>
            <a:endParaRPr lang="en-US" sz="1100"/>
          </a:p>
        </p:txBody>
      </p:sp>
      <p:sp>
        <p:nvSpPr>
          <p:cNvPr name="TextBox 19" id="19"/>
          <p:cNvSpPr txBox="true"/>
          <p:nvPr/>
        </p:nvSpPr>
        <p:spPr>
          <a:xfrm>
            <a:off x="6629400" y="4267200"/>
            <a:ext cx="3797300" cy="2641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The system embeds source references directly into answers by tagging which document each part of the response comes from. This ensures students can verify information and trace it back to course materials.</a:t>
            </a:r>
            <a:endParaRPr lang="en-US" sz="1100"/>
          </a:p>
        </p:txBody>
      </p:sp>
      <p:sp>
        <p:nvSpPr>
          <p:cNvPr name="TextBox 20" id="20"/>
          <p:cNvSpPr txBox="true"/>
          <p:nvPr/>
        </p:nvSpPr>
        <p:spPr>
          <a:xfrm>
            <a:off x="11569700" y="4267200"/>
            <a:ext cx="3797300" cy="2641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By providing the retrieval system's results as context to the LLM, the model stays focused on course-related content rather than using external knowledge. This simple approach helps prevent completely inaccurate answers.</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2349500"/>
            <a:ext cx="14490700" cy="4648200"/>
          </a:xfrm>
          <a:prstGeom prst="rect">
            <a:avLst/>
          </a:prstGeom>
          <a:solidFill>
            <a:srgbClr val="000000">
              <a:alpha val="0"/>
            </a:srgbClr>
          </a:solidFill>
        </p:spPr>
      </p:sp>
      <p:sp>
        <p:nvSpPr>
          <p:cNvPr name="AutoShape 5" id="5"/>
          <p:cNvSpPr/>
          <p:nvPr/>
        </p:nvSpPr>
        <p:spPr>
          <a:xfrm>
            <a:off x="876300" y="2349500"/>
            <a:ext cx="3378200" cy="4648200"/>
          </a:xfrm>
          <a:prstGeom prst="rect">
            <a:avLst/>
          </a:prstGeom>
          <a:solidFill>
            <a:srgbClr val="000000">
              <a:alpha val="0"/>
            </a:srgbClr>
          </a:solidFill>
        </p:spPr>
      </p:sp>
      <p:sp>
        <p:nvSpPr>
          <p:cNvPr name="AutoShape 6" id="6"/>
          <p:cNvSpPr/>
          <p:nvPr/>
        </p:nvSpPr>
        <p:spPr>
          <a:xfrm>
            <a:off x="876300" y="2349500"/>
            <a:ext cx="3378200" cy="4648200"/>
          </a:xfrm>
          <a:prstGeom prst="rect">
            <a:avLst/>
          </a:prstGeom>
          <a:solidFill>
            <a:srgbClr val="000000">
              <a:alpha val="0"/>
            </a:srgbClr>
          </a:solidFill>
        </p:spPr>
      </p:sp>
      <p:sp>
        <p:nvSpPr>
          <p:cNvPr name="AutoShape 7" id="7"/>
          <p:cNvSpPr/>
          <p:nvPr/>
        </p:nvSpPr>
        <p:spPr>
          <a:xfrm>
            <a:off x="876300" y="4038600"/>
            <a:ext cx="3378200" cy="2971800"/>
          </a:xfrm>
          <a:prstGeom prst="rect">
            <a:avLst/>
          </a:prstGeom>
          <a:solidFill>
            <a:srgbClr val="000000">
              <a:alpha val="0"/>
            </a:srgbClr>
          </a:solidFill>
        </p:spPr>
      </p:sp>
      <p:sp>
        <p:nvSpPr>
          <p:cNvPr name="AutoShape 8" id="8"/>
          <p:cNvSpPr/>
          <p:nvPr/>
        </p:nvSpPr>
        <p:spPr>
          <a:xfrm>
            <a:off x="4572000" y="2349500"/>
            <a:ext cx="3378200" cy="4648200"/>
          </a:xfrm>
          <a:prstGeom prst="rect">
            <a:avLst/>
          </a:prstGeom>
          <a:solidFill>
            <a:srgbClr val="000000">
              <a:alpha val="0"/>
            </a:srgbClr>
          </a:solidFill>
        </p:spPr>
      </p:sp>
      <p:sp>
        <p:nvSpPr>
          <p:cNvPr name="AutoShape 9" id="9"/>
          <p:cNvSpPr/>
          <p:nvPr/>
        </p:nvSpPr>
        <p:spPr>
          <a:xfrm>
            <a:off x="4572000" y="2349500"/>
            <a:ext cx="3378200" cy="4648200"/>
          </a:xfrm>
          <a:prstGeom prst="rect">
            <a:avLst/>
          </a:prstGeom>
          <a:solidFill>
            <a:srgbClr val="000000">
              <a:alpha val="0"/>
            </a:srgbClr>
          </a:solidFill>
        </p:spPr>
      </p:sp>
      <p:sp>
        <p:nvSpPr>
          <p:cNvPr name="AutoShape 10" id="10"/>
          <p:cNvSpPr/>
          <p:nvPr/>
        </p:nvSpPr>
        <p:spPr>
          <a:xfrm>
            <a:off x="4572000" y="4038600"/>
            <a:ext cx="3378200" cy="2971800"/>
          </a:xfrm>
          <a:prstGeom prst="rect">
            <a:avLst/>
          </a:prstGeom>
          <a:solidFill>
            <a:srgbClr val="000000">
              <a:alpha val="0"/>
            </a:srgbClr>
          </a:solidFill>
        </p:spPr>
      </p:sp>
      <p:sp>
        <p:nvSpPr>
          <p:cNvPr name="AutoShape 11" id="11"/>
          <p:cNvSpPr/>
          <p:nvPr/>
        </p:nvSpPr>
        <p:spPr>
          <a:xfrm>
            <a:off x="8280400" y="2349500"/>
            <a:ext cx="3378200" cy="4648200"/>
          </a:xfrm>
          <a:prstGeom prst="rect">
            <a:avLst/>
          </a:prstGeom>
          <a:solidFill>
            <a:srgbClr val="000000">
              <a:alpha val="0"/>
            </a:srgbClr>
          </a:solidFill>
        </p:spPr>
      </p:sp>
      <p:sp>
        <p:nvSpPr>
          <p:cNvPr name="AutoShape 12" id="12"/>
          <p:cNvSpPr/>
          <p:nvPr/>
        </p:nvSpPr>
        <p:spPr>
          <a:xfrm>
            <a:off x="8280400" y="2349500"/>
            <a:ext cx="3378200" cy="4648200"/>
          </a:xfrm>
          <a:prstGeom prst="rect">
            <a:avLst/>
          </a:prstGeom>
          <a:solidFill>
            <a:srgbClr val="000000">
              <a:alpha val="0"/>
            </a:srgbClr>
          </a:solidFill>
        </p:spPr>
      </p:sp>
      <p:sp>
        <p:nvSpPr>
          <p:cNvPr name="AutoShape 13" id="13"/>
          <p:cNvSpPr/>
          <p:nvPr/>
        </p:nvSpPr>
        <p:spPr>
          <a:xfrm>
            <a:off x="8280400" y="4038600"/>
            <a:ext cx="3378200" cy="2971800"/>
          </a:xfrm>
          <a:prstGeom prst="rect">
            <a:avLst/>
          </a:prstGeom>
          <a:solidFill>
            <a:srgbClr val="000000">
              <a:alpha val="0"/>
            </a:srgbClr>
          </a:solidFill>
        </p:spPr>
      </p:sp>
      <p:sp>
        <p:nvSpPr>
          <p:cNvPr name="AutoShape 14" id="14"/>
          <p:cNvSpPr/>
          <p:nvPr/>
        </p:nvSpPr>
        <p:spPr>
          <a:xfrm>
            <a:off x="11976100" y="2349500"/>
            <a:ext cx="3378200" cy="4648200"/>
          </a:xfrm>
          <a:prstGeom prst="rect">
            <a:avLst/>
          </a:prstGeom>
          <a:solidFill>
            <a:srgbClr val="000000">
              <a:alpha val="0"/>
            </a:srgbClr>
          </a:solidFill>
        </p:spPr>
      </p:sp>
      <p:sp>
        <p:nvSpPr>
          <p:cNvPr name="AutoShape 15" id="15"/>
          <p:cNvSpPr/>
          <p:nvPr/>
        </p:nvSpPr>
        <p:spPr>
          <a:xfrm>
            <a:off x="11976100" y="2349500"/>
            <a:ext cx="3378200" cy="4648200"/>
          </a:xfrm>
          <a:prstGeom prst="rect">
            <a:avLst/>
          </a:prstGeom>
          <a:solidFill>
            <a:srgbClr val="000000">
              <a:alpha val="0"/>
            </a:srgbClr>
          </a:solidFill>
        </p:spPr>
      </p:sp>
      <p:sp>
        <p:nvSpPr>
          <p:cNvPr name="AutoShape 16" id="16"/>
          <p:cNvSpPr/>
          <p:nvPr/>
        </p:nvSpPr>
        <p:spPr>
          <a:xfrm>
            <a:off x="11976100" y="4038600"/>
            <a:ext cx="3378200" cy="2971800"/>
          </a:xfrm>
          <a:prstGeom prst="rect">
            <a:avLst/>
          </a:prstGeom>
          <a:solidFill>
            <a:srgbClr val="000000">
              <a:alpha val="0"/>
            </a:srgbClr>
          </a:solidFill>
        </p:spPr>
      </p:sp>
      <p:pic>
        <p:nvPicPr>
          <p:cNvPr name="Picture 17" id="17"/>
          <p:cNvPicPr>
            <a:picLocks noChangeAspect="true"/>
          </p:cNvPicPr>
          <p:nvPr/>
        </p:nvPicPr>
        <p:blipFill>
          <a:blip r:embed="rId3"/>
          <a:srcRect t="1000" b="1000"/>
          <a:stretch>
            <a:fillRect/>
          </a:stretch>
        </p:blipFill>
        <p:spPr>
          <a:xfrm>
            <a:off x="876300" y="2349500"/>
            <a:ext cx="2425700" cy="1358900"/>
          </a:xfrm>
          <a:prstGeom prst="roundRect">
            <a:avLst>
              <a:gd name="adj" fmla="val 5607"/>
            </a:avLst>
          </a:prstGeom>
        </p:spPr>
      </p:pic>
      <p:pic>
        <p:nvPicPr>
          <p:cNvPr name="Picture 18" id="18"/>
          <p:cNvPicPr>
            <a:picLocks noChangeAspect="true"/>
          </p:cNvPicPr>
          <p:nvPr/>
        </p:nvPicPr>
        <p:blipFill>
          <a:blip r:embed="rId4"/>
          <a:srcRect t="1000" b="1000"/>
          <a:stretch>
            <a:fillRect/>
          </a:stretch>
        </p:blipFill>
        <p:spPr>
          <a:xfrm>
            <a:off x="4572000" y="2349500"/>
            <a:ext cx="2425700" cy="1358900"/>
          </a:xfrm>
          <a:prstGeom prst="roundRect">
            <a:avLst>
              <a:gd name="adj" fmla="val 5607"/>
            </a:avLst>
          </a:prstGeom>
        </p:spPr>
      </p:pic>
      <p:pic>
        <p:nvPicPr>
          <p:cNvPr name="Picture 19" id="19"/>
          <p:cNvPicPr>
            <a:picLocks noChangeAspect="true"/>
          </p:cNvPicPr>
          <p:nvPr/>
        </p:nvPicPr>
        <p:blipFill>
          <a:blip r:embed="rId5"/>
          <a:srcRect t="1000" b="1000"/>
          <a:stretch>
            <a:fillRect/>
          </a:stretch>
        </p:blipFill>
        <p:spPr>
          <a:xfrm>
            <a:off x="8280400" y="2349500"/>
            <a:ext cx="2425700" cy="1358900"/>
          </a:xfrm>
          <a:prstGeom prst="roundRect">
            <a:avLst>
              <a:gd name="adj" fmla="val 5607"/>
            </a:avLst>
          </a:prstGeom>
        </p:spPr>
      </p:pic>
      <p:pic>
        <p:nvPicPr>
          <p:cNvPr name="Picture 20" id="20"/>
          <p:cNvPicPr>
            <a:picLocks noChangeAspect="true"/>
          </p:cNvPicPr>
          <p:nvPr/>
        </p:nvPicPr>
        <p:blipFill>
          <a:blip r:embed="rId6"/>
          <a:srcRect t="1000" b="1000"/>
          <a:stretch>
            <a:fillRect/>
          </a:stretch>
        </p:blipFill>
        <p:spPr>
          <a:xfrm>
            <a:off x="11976100" y="2349500"/>
            <a:ext cx="2425700" cy="1358900"/>
          </a:xfrm>
          <a:prstGeom prst="roundRect">
            <a:avLst>
              <a:gd name="adj" fmla="val 5607"/>
            </a:avLst>
          </a:prstGeom>
        </p:spPr>
      </p:pic>
      <p:sp>
        <p:nvSpPr>
          <p:cNvPr name="TextBox 21" id="21"/>
          <p:cNvSpPr txBox="true"/>
          <p:nvPr/>
        </p:nvSpPr>
        <p:spPr>
          <a:xfrm>
            <a:off x="876300" y="14605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FFFFFF"/>
                </a:solidFill>
                <a:latin typeface="Aboreto"/>
              </a:rPr>
              <a:t>Prototype Interface: Gradio UI</a:t>
            </a:r>
            <a:endParaRPr lang="en-US" sz="1100"/>
          </a:p>
        </p:txBody>
      </p:sp>
      <p:sp>
        <p:nvSpPr>
          <p:cNvPr name="TextBox 22" id="22"/>
          <p:cNvSpPr txBox="true"/>
          <p:nvPr/>
        </p:nvSpPr>
        <p:spPr>
          <a:xfrm>
            <a:off x="876300" y="4038600"/>
            <a:ext cx="33782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Input Text Box</a:t>
            </a:r>
            <a:endParaRPr lang="en-US" sz="1100"/>
          </a:p>
        </p:txBody>
      </p:sp>
      <p:sp>
        <p:nvSpPr>
          <p:cNvPr name="TextBox 23" id="23"/>
          <p:cNvSpPr txBox="true"/>
          <p:nvPr/>
        </p:nvSpPr>
        <p:spPr>
          <a:xfrm>
            <a:off x="4572000" y="4038600"/>
            <a:ext cx="33782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AI Output Area</a:t>
            </a:r>
            <a:endParaRPr lang="en-US" sz="1100"/>
          </a:p>
        </p:txBody>
      </p:sp>
      <p:sp>
        <p:nvSpPr>
          <p:cNvPr name="TextBox 24" id="24"/>
          <p:cNvSpPr txBox="true"/>
          <p:nvPr/>
        </p:nvSpPr>
        <p:spPr>
          <a:xfrm>
            <a:off x="8280400" y="4038600"/>
            <a:ext cx="33782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Citations Section</a:t>
            </a:r>
            <a:endParaRPr lang="en-US" sz="1100"/>
          </a:p>
        </p:txBody>
      </p:sp>
      <p:sp>
        <p:nvSpPr>
          <p:cNvPr name="TextBox 25" id="25"/>
          <p:cNvSpPr txBox="true"/>
          <p:nvPr/>
        </p:nvSpPr>
        <p:spPr>
          <a:xfrm>
            <a:off x="11976100" y="4038600"/>
            <a:ext cx="33782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Action Buttons</a:t>
            </a:r>
            <a:endParaRPr lang="en-US" sz="1100"/>
          </a:p>
        </p:txBody>
      </p:sp>
      <p:sp>
        <p:nvSpPr>
          <p:cNvPr name="TextBox 26" id="26"/>
          <p:cNvSpPr txBox="true"/>
          <p:nvPr/>
        </p:nvSpPr>
        <p:spPr>
          <a:xfrm>
            <a:off x="876300" y="4660900"/>
            <a:ext cx="3378200" cy="2260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Students type their course-related questions here. The box includes placeholder text to guide users on what kinds of questions the system can answer.</a:t>
            </a:r>
            <a:endParaRPr lang="en-US" sz="1100"/>
          </a:p>
        </p:txBody>
      </p:sp>
      <p:sp>
        <p:nvSpPr>
          <p:cNvPr name="TextBox 27" id="27"/>
          <p:cNvSpPr txBox="true"/>
          <p:nvPr/>
        </p:nvSpPr>
        <p:spPr>
          <a:xfrm>
            <a:off x="4572000" y="4660900"/>
            <a:ext cx="33782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The system displays its answer in this section, formatted as readable text that directly addresses the student's question.</a:t>
            </a:r>
            <a:endParaRPr lang="en-US" sz="1100"/>
          </a:p>
        </p:txBody>
      </p:sp>
      <p:sp>
        <p:nvSpPr>
          <p:cNvPr name="TextBox 28" id="28"/>
          <p:cNvSpPr txBox="true"/>
          <p:nvPr/>
        </p:nvSpPr>
        <p:spPr>
          <a:xfrm>
            <a:off x="8280400" y="5118100"/>
            <a:ext cx="33782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Below or alongside the answer, the system shows which course materials were used as sources (e.g., "Lecture 3, Slide 12" or "Chapter 4, Page 67").</a:t>
            </a:r>
            <a:endParaRPr lang="en-US" sz="1100"/>
          </a:p>
        </p:txBody>
      </p:sp>
      <p:sp>
        <p:nvSpPr>
          <p:cNvPr name="TextBox 29" id="29"/>
          <p:cNvSpPr txBox="true"/>
          <p:nvPr/>
        </p:nvSpPr>
        <p:spPr>
          <a:xfrm>
            <a:off x="11976100" y="5118100"/>
            <a:ext cx="33782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"Clear" button resets the interface for a new question, and "Flag" button lets students report issues or provide feedback on answers.</a:t>
            </a:r>
            <a:endParaRPr lang="en-US" sz="1100"/>
          </a:p>
        </p:txBody>
      </p:sp>
      <p:sp>
        <p:nvSpPr>
          <p:cNvPr name="TextBox 30" id="30"/>
          <p:cNvSpPr txBox="true"/>
          <p:nvPr/>
        </p:nvSpPr>
        <p:spPr>
          <a:xfrm>
            <a:off x="876300" y="7289800"/>
            <a:ext cx="14490700" cy="368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This is a simple Gradio interface running in a Colab notebook - clean, functional, and user-friendly but not overly polished.</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2247900"/>
            <a:ext cx="14490700" cy="4483100"/>
          </a:xfrm>
          <a:prstGeom prst="rect">
            <a:avLst/>
          </a:prstGeom>
          <a:solidFill>
            <a:srgbClr val="000000">
              <a:alpha val="0"/>
            </a:srgbClr>
          </a:solidFill>
        </p:spPr>
      </p:sp>
      <p:sp>
        <p:nvSpPr>
          <p:cNvPr name="AutoShape 5" id="5"/>
          <p:cNvSpPr/>
          <p:nvPr/>
        </p:nvSpPr>
        <p:spPr>
          <a:xfrm>
            <a:off x="876300" y="2247900"/>
            <a:ext cx="4660900" cy="4483100"/>
          </a:xfrm>
          <a:prstGeom prst="rect">
            <a:avLst/>
          </a:prstGeom>
          <a:solidFill>
            <a:srgbClr val="2A345E">
              <a:alpha val="66667"/>
            </a:srgbClr>
          </a:solidFill>
        </p:spPr>
      </p:sp>
      <p:sp>
        <p:nvSpPr>
          <p:cNvPr name="AutoShape 6" id="6"/>
          <p:cNvSpPr/>
          <p:nvPr/>
        </p:nvSpPr>
        <p:spPr>
          <a:xfrm>
            <a:off x="1130300" y="2501900"/>
            <a:ext cx="749300" cy="749300"/>
          </a:xfrm>
          <a:prstGeom prst="roundRect">
            <a:avLst>
              <a:gd name="adj" fmla="val 49152"/>
            </a:avLst>
          </a:prstGeom>
          <a:solidFill>
            <a:srgbClr val="4E37C1"/>
          </a:solidFill>
        </p:spPr>
      </p:sp>
      <p:sp>
        <p:nvSpPr>
          <p:cNvPr name="AutoShape 7" id="7"/>
          <p:cNvSpPr/>
          <p:nvPr/>
        </p:nvSpPr>
        <p:spPr>
          <a:xfrm>
            <a:off x="5791200" y="2247900"/>
            <a:ext cx="4660900" cy="4483100"/>
          </a:xfrm>
          <a:prstGeom prst="rect">
            <a:avLst/>
          </a:prstGeom>
          <a:solidFill>
            <a:srgbClr val="2A345E">
              <a:alpha val="66667"/>
            </a:srgbClr>
          </a:solidFill>
        </p:spPr>
      </p:sp>
      <p:sp>
        <p:nvSpPr>
          <p:cNvPr name="AutoShape 8" id="8"/>
          <p:cNvSpPr/>
          <p:nvPr/>
        </p:nvSpPr>
        <p:spPr>
          <a:xfrm>
            <a:off x="6045200" y="2501900"/>
            <a:ext cx="749300" cy="749300"/>
          </a:xfrm>
          <a:prstGeom prst="roundRect">
            <a:avLst>
              <a:gd name="adj" fmla="val 49152"/>
            </a:avLst>
          </a:prstGeom>
          <a:solidFill>
            <a:srgbClr val="4E37C1"/>
          </a:solidFill>
        </p:spPr>
      </p:sp>
      <p:sp>
        <p:nvSpPr>
          <p:cNvPr name="AutoShape 9" id="9"/>
          <p:cNvSpPr/>
          <p:nvPr/>
        </p:nvSpPr>
        <p:spPr>
          <a:xfrm>
            <a:off x="10706100" y="2247900"/>
            <a:ext cx="4660900" cy="4483100"/>
          </a:xfrm>
          <a:prstGeom prst="rect">
            <a:avLst/>
          </a:prstGeom>
          <a:solidFill>
            <a:srgbClr val="2A345E">
              <a:alpha val="66667"/>
            </a:srgbClr>
          </a:solidFill>
        </p:spPr>
      </p:sp>
      <p:sp>
        <p:nvSpPr>
          <p:cNvPr name="AutoShape 10" id="10"/>
          <p:cNvSpPr/>
          <p:nvPr/>
        </p:nvSpPr>
        <p:spPr>
          <a:xfrm>
            <a:off x="10960100" y="2501900"/>
            <a:ext cx="749300" cy="749300"/>
          </a:xfrm>
          <a:prstGeom prst="roundRect">
            <a:avLst>
              <a:gd name="adj" fmla="val 49152"/>
            </a:avLst>
          </a:prstGeom>
          <a:solidFill>
            <a:srgbClr val="4E37C1"/>
          </a:solidFill>
        </p:spPr>
      </p:sp>
      <p:sp>
        <p:nvSpPr>
          <p:cNvPr name="TextBox 11" id="11"/>
          <p:cNvSpPr txBox="true"/>
          <p:nvPr/>
        </p:nvSpPr>
        <p:spPr>
          <a:xfrm>
            <a:off x="876300" y="13589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FFFFFF"/>
                </a:solidFill>
                <a:latin typeface="Aboreto"/>
              </a:rPr>
              <a:t>Training &amp; Optimization (Phase 03)</a:t>
            </a:r>
            <a:endParaRPr lang="en-US" sz="1100"/>
          </a:p>
        </p:txBody>
      </p:sp>
      <p:sp>
        <p:nvSpPr>
          <p:cNvPr name="TextBox 12" id="12"/>
          <p:cNvSpPr txBox="true"/>
          <p:nvPr/>
        </p:nvSpPr>
        <p:spPr>
          <a:xfrm>
            <a:off x="1447800" y="2692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Aboreto"/>
              </a:rPr>
              <a:t>1</a:t>
            </a:r>
            <a:endParaRPr lang="en-US" sz="1100"/>
          </a:p>
        </p:txBody>
      </p:sp>
      <p:sp>
        <p:nvSpPr>
          <p:cNvPr name="TextBox 13" id="13"/>
          <p:cNvSpPr txBox="true"/>
          <p:nvPr/>
        </p:nvSpPr>
        <p:spPr>
          <a:xfrm>
            <a:off x="1130300" y="3505200"/>
            <a:ext cx="41529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Prompt Refinement</a:t>
            </a:r>
            <a:endParaRPr lang="en-US" sz="1100"/>
          </a:p>
        </p:txBody>
      </p:sp>
      <p:sp>
        <p:nvSpPr>
          <p:cNvPr name="TextBox 14" id="14"/>
          <p:cNvSpPr txBox="true"/>
          <p:nvPr/>
        </p:nvSpPr>
        <p:spPr>
          <a:xfrm>
            <a:off x="6337300" y="2692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Aboreto"/>
              </a:rPr>
              <a:t>2</a:t>
            </a:r>
            <a:endParaRPr lang="en-US" sz="1100"/>
          </a:p>
        </p:txBody>
      </p:sp>
      <p:sp>
        <p:nvSpPr>
          <p:cNvPr name="TextBox 15" id="15"/>
          <p:cNvSpPr txBox="true"/>
          <p:nvPr/>
        </p:nvSpPr>
        <p:spPr>
          <a:xfrm>
            <a:off x="6045200" y="3505200"/>
            <a:ext cx="41529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Retrieval Testing</a:t>
            </a:r>
            <a:endParaRPr lang="en-US" sz="1100"/>
          </a:p>
        </p:txBody>
      </p:sp>
      <p:sp>
        <p:nvSpPr>
          <p:cNvPr name="TextBox 16" id="16"/>
          <p:cNvSpPr txBox="true"/>
          <p:nvPr/>
        </p:nvSpPr>
        <p:spPr>
          <a:xfrm>
            <a:off x="11252200" y="26924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000000"/>
                </a:solidFill>
                <a:highlight>
                  <a:srgbClr val="000000">
                    <a:alpha val="0"/>
                  </a:srgbClr>
                </a:highlight>
                <a:latin typeface="Aboreto"/>
              </a:rPr>
              <a:t>3</a:t>
            </a:r>
            <a:endParaRPr lang="en-US" sz="1100"/>
          </a:p>
        </p:txBody>
      </p:sp>
      <p:sp>
        <p:nvSpPr>
          <p:cNvPr name="TextBox 17" id="17"/>
          <p:cNvSpPr txBox="true"/>
          <p:nvPr/>
        </p:nvSpPr>
        <p:spPr>
          <a:xfrm>
            <a:off x="10960100" y="3505200"/>
            <a:ext cx="41529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Integration Debugging</a:t>
            </a:r>
            <a:endParaRPr lang="en-US" sz="1100"/>
          </a:p>
        </p:txBody>
      </p:sp>
      <p:sp>
        <p:nvSpPr>
          <p:cNvPr name="TextBox 18" id="18"/>
          <p:cNvSpPr txBox="true"/>
          <p:nvPr/>
        </p:nvSpPr>
        <p:spPr>
          <a:xfrm>
            <a:off x="1130300" y="4140200"/>
            <a:ext cx="41529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We iterated on system prompts to improve how the LLM responds to student questions, testing different instructions to find what works best for course-specific queries.</a:t>
            </a:r>
            <a:endParaRPr lang="en-US" sz="1100"/>
          </a:p>
        </p:txBody>
      </p:sp>
      <p:sp>
        <p:nvSpPr>
          <p:cNvPr name="TextBox 19" id="19"/>
          <p:cNvSpPr txBox="true"/>
          <p:nvPr/>
        </p:nvSpPr>
        <p:spPr>
          <a:xfrm>
            <a:off x="6045200" y="4140200"/>
            <a:ext cx="4152900" cy="2260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We evaluated different chunk sizes and embedding approaches to optimize how course materials are indexed and retrieved, looking for the best balance between comprehensiveness and speed.</a:t>
            </a:r>
            <a:endParaRPr lang="en-US" sz="1100"/>
          </a:p>
        </p:txBody>
      </p:sp>
      <p:sp>
        <p:nvSpPr>
          <p:cNvPr name="TextBox 20" id="20"/>
          <p:cNvSpPr txBox="true"/>
          <p:nvPr/>
        </p:nvSpPr>
        <p:spPr>
          <a:xfrm>
            <a:off x="10960100" y="4597400"/>
            <a:ext cx="41529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We worked through various technical challenges connecting the retrieval system, embedding model, and LLM to ensure smooth data flow through the pipeline.</a:t>
            </a:r>
            <a:endParaRPr lang="en-US" sz="1100"/>
          </a:p>
        </p:txBody>
      </p:sp>
      <p:sp>
        <p:nvSpPr>
          <p:cNvPr name="TextBox 21" id="21"/>
          <p:cNvSpPr txBox="true"/>
          <p:nvPr/>
        </p:nvSpPr>
        <p:spPr>
          <a:xfrm>
            <a:off x="876300" y="7010400"/>
            <a:ext cx="144907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The optimization process focused on practical debugging and iterative improvements to enhance the system's performance for student learning needs.</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2971800"/>
            <a:ext cx="14490700" cy="4064000"/>
          </a:xfrm>
          <a:prstGeom prst="roundRect">
            <a:avLst>
              <a:gd name="adj" fmla="val 1875"/>
            </a:avLst>
          </a:prstGeom>
          <a:solidFill>
            <a:srgbClr val="000000">
              <a:alpha val="0"/>
            </a:srgbClr>
          </a:solidFill>
        </p:spPr>
      </p:sp>
      <p:sp>
        <p:nvSpPr>
          <p:cNvPr name="AutoShape 5" id="5"/>
          <p:cNvSpPr/>
          <p:nvPr/>
        </p:nvSpPr>
        <p:spPr>
          <a:xfrm>
            <a:off x="876300" y="2971800"/>
            <a:ext cx="3378200" cy="4064000"/>
          </a:xfrm>
          <a:prstGeom prst="roundRect">
            <a:avLst>
              <a:gd name="adj" fmla="val 2255"/>
            </a:avLst>
          </a:prstGeom>
          <a:solidFill>
            <a:srgbClr val="000000">
              <a:alpha val="0"/>
            </a:srgbClr>
          </a:solidFill>
        </p:spPr>
      </p:sp>
      <p:sp>
        <p:nvSpPr>
          <p:cNvPr name="AutoShape 6" id="6"/>
          <p:cNvSpPr/>
          <p:nvPr/>
        </p:nvSpPr>
        <p:spPr>
          <a:xfrm>
            <a:off x="4572000" y="2971800"/>
            <a:ext cx="3378200" cy="4064000"/>
          </a:xfrm>
          <a:prstGeom prst="roundRect">
            <a:avLst>
              <a:gd name="adj" fmla="val 2255"/>
            </a:avLst>
          </a:prstGeom>
          <a:solidFill>
            <a:srgbClr val="000000">
              <a:alpha val="0"/>
            </a:srgbClr>
          </a:solidFill>
        </p:spPr>
      </p:sp>
      <p:sp>
        <p:nvSpPr>
          <p:cNvPr name="AutoShape 7" id="7"/>
          <p:cNvSpPr/>
          <p:nvPr/>
        </p:nvSpPr>
        <p:spPr>
          <a:xfrm>
            <a:off x="8280400" y="2971800"/>
            <a:ext cx="3378200" cy="4064000"/>
          </a:xfrm>
          <a:prstGeom prst="roundRect">
            <a:avLst>
              <a:gd name="adj" fmla="val 2255"/>
            </a:avLst>
          </a:prstGeom>
          <a:solidFill>
            <a:srgbClr val="000000">
              <a:alpha val="0"/>
            </a:srgbClr>
          </a:solidFill>
        </p:spPr>
      </p:sp>
      <p:sp>
        <p:nvSpPr>
          <p:cNvPr name="AutoShape 8" id="8"/>
          <p:cNvSpPr/>
          <p:nvPr/>
        </p:nvSpPr>
        <p:spPr>
          <a:xfrm>
            <a:off x="11976100" y="2971800"/>
            <a:ext cx="3378200" cy="4064000"/>
          </a:xfrm>
          <a:prstGeom prst="roundRect">
            <a:avLst>
              <a:gd name="adj" fmla="val 2255"/>
            </a:avLst>
          </a:prstGeom>
          <a:solidFill>
            <a:srgbClr val="000000">
              <a:alpha val="0"/>
            </a:srgbClr>
          </a:solidFill>
        </p:spPr>
      </p:sp>
      <p:sp>
        <p:nvSpPr>
          <p:cNvPr name="TextBox 9" id="9"/>
          <p:cNvSpPr txBox="true"/>
          <p:nvPr/>
        </p:nvSpPr>
        <p:spPr>
          <a:xfrm>
            <a:off x="876300" y="20828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FFFFFF"/>
                </a:solidFill>
                <a:latin typeface="Aboreto"/>
              </a:rPr>
              <a:t>Model Evaluation: Key Metrics</a:t>
            </a:r>
            <a:endParaRPr lang="en-US" sz="1100"/>
          </a:p>
        </p:txBody>
      </p:sp>
      <p:sp>
        <p:nvSpPr>
          <p:cNvPr name="TextBox 10" id="10"/>
          <p:cNvSpPr txBox="true"/>
          <p:nvPr/>
        </p:nvSpPr>
        <p:spPr>
          <a:xfrm>
            <a:off x="876300" y="4076700"/>
            <a:ext cx="33782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Retrieval Quality</a:t>
            </a:r>
            <a:endParaRPr lang="en-US" sz="1100"/>
          </a:p>
        </p:txBody>
      </p:sp>
      <p:sp>
        <p:nvSpPr>
          <p:cNvPr name="TextBox 11" id="11"/>
          <p:cNvSpPr txBox="true"/>
          <p:nvPr/>
        </p:nvSpPr>
        <p:spPr>
          <a:xfrm>
            <a:off x="4572000" y="4076700"/>
            <a:ext cx="33782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Answer Relevance</a:t>
            </a:r>
            <a:endParaRPr lang="en-US" sz="1100"/>
          </a:p>
        </p:txBody>
      </p:sp>
      <p:sp>
        <p:nvSpPr>
          <p:cNvPr name="TextBox 12" id="12"/>
          <p:cNvSpPr txBox="true"/>
          <p:nvPr/>
        </p:nvSpPr>
        <p:spPr>
          <a:xfrm>
            <a:off x="8280400" y="4076700"/>
            <a:ext cx="33782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Citation Accuracy</a:t>
            </a:r>
            <a:endParaRPr lang="en-US" sz="1100"/>
          </a:p>
        </p:txBody>
      </p:sp>
      <p:sp>
        <p:nvSpPr>
          <p:cNvPr name="TextBox 13" id="13"/>
          <p:cNvSpPr txBox="true"/>
          <p:nvPr/>
        </p:nvSpPr>
        <p:spPr>
          <a:xfrm>
            <a:off x="11976100" y="4076700"/>
            <a:ext cx="33782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Response Time</a:t>
            </a:r>
            <a:endParaRPr lang="en-US" sz="1100"/>
          </a:p>
        </p:txBody>
      </p:sp>
      <p:sp>
        <p:nvSpPr>
          <p:cNvPr name="TextBox 14" id="14"/>
          <p:cNvSpPr txBox="true"/>
          <p:nvPr/>
        </p:nvSpPr>
        <p:spPr>
          <a:xfrm>
            <a:off x="876300" y="5156200"/>
            <a:ext cx="33782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We assess whether the system retrieves documents relevant to student queries, with most queries returning appropriate source material.</a:t>
            </a:r>
            <a:endParaRPr lang="en-US" sz="1100"/>
          </a:p>
        </p:txBody>
      </p:sp>
      <p:sp>
        <p:nvSpPr>
          <p:cNvPr name="TextBox 15" id="15"/>
          <p:cNvSpPr txBox="true"/>
          <p:nvPr/>
        </p:nvSpPr>
        <p:spPr>
          <a:xfrm>
            <a:off x="4572000" y="5156200"/>
            <a:ext cx="33782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We evaluate whether generated answers actually address the student's question based on the retrieved material.</a:t>
            </a:r>
            <a:endParaRPr lang="en-US" sz="1100"/>
          </a:p>
        </p:txBody>
      </p:sp>
      <p:sp>
        <p:nvSpPr>
          <p:cNvPr name="TextBox 16" id="16"/>
          <p:cNvSpPr txBox="true"/>
          <p:nvPr/>
        </p:nvSpPr>
        <p:spPr>
          <a:xfrm>
            <a:off x="8280400" y="5156200"/>
            <a:ext cx="3378200" cy="1130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We check that citations point to actual source material and are not fabricated.</a:t>
            </a:r>
            <a:endParaRPr lang="en-US" sz="1100"/>
          </a:p>
        </p:txBody>
      </p:sp>
      <p:sp>
        <p:nvSpPr>
          <p:cNvPr name="TextBox 17" id="17"/>
          <p:cNvSpPr txBox="true"/>
          <p:nvPr/>
        </p:nvSpPr>
        <p:spPr>
          <a:xfrm>
            <a:off x="11976100" y="4699000"/>
            <a:ext cx="33782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We ensure the system responds quickly enough for interactive use in the Colab notebook.</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1574800"/>
            <a:ext cx="14490700" cy="6870700"/>
          </a:xfrm>
          <a:prstGeom prst="rect">
            <a:avLst/>
          </a:prstGeom>
          <a:solidFill>
            <a:srgbClr val="000000">
              <a:alpha val="0"/>
            </a:srgbClr>
          </a:solidFill>
        </p:spPr>
      </p:sp>
      <p:sp>
        <p:nvSpPr>
          <p:cNvPr name="AutoShape 5" id="5"/>
          <p:cNvSpPr/>
          <p:nvPr/>
        </p:nvSpPr>
        <p:spPr>
          <a:xfrm>
            <a:off x="876300" y="1574800"/>
            <a:ext cx="14490700" cy="1371600"/>
          </a:xfrm>
          <a:prstGeom prst="rect">
            <a:avLst/>
          </a:prstGeom>
          <a:solidFill>
            <a:srgbClr val="000000">
              <a:alpha val="0"/>
            </a:srgbClr>
          </a:solidFill>
        </p:spPr>
      </p:sp>
      <p:sp>
        <p:nvSpPr>
          <p:cNvPr name="AutoShape 6" id="6"/>
          <p:cNvSpPr/>
          <p:nvPr/>
        </p:nvSpPr>
        <p:spPr>
          <a:xfrm>
            <a:off x="876300" y="3403600"/>
            <a:ext cx="14490700" cy="1371600"/>
          </a:xfrm>
          <a:prstGeom prst="rect">
            <a:avLst/>
          </a:prstGeom>
          <a:solidFill>
            <a:srgbClr val="000000">
              <a:alpha val="0"/>
            </a:srgbClr>
          </a:solidFill>
        </p:spPr>
      </p:sp>
      <p:sp>
        <p:nvSpPr>
          <p:cNvPr name="AutoShape 7" id="7"/>
          <p:cNvSpPr/>
          <p:nvPr/>
        </p:nvSpPr>
        <p:spPr>
          <a:xfrm>
            <a:off x="876300" y="5232400"/>
            <a:ext cx="14490700" cy="1371600"/>
          </a:xfrm>
          <a:prstGeom prst="rect">
            <a:avLst/>
          </a:prstGeom>
          <a:solidFill>
            <a:srgbClr val="000000">
              <a:alpha val="0"/>
            </a:srgbClr>
          </a:solidFill>
        </p:spPr>
      </p:sp>
      <p:sp>
        <p:nvSpPr>
          <p:cNvPr name="AutoShape 8" id="8"/>
          <p:cNvSpPr/>
          <p:nvPr/>
        </p:nvSpPr>
        <p:spPr>
          <a:xfrm>
            <a:off x="876300" y="7061200"/>
            <a:ext cx="14490700" cy="1371600"/>
          </a:xfrm>
          <a:prstGeom prst="rect">
            <a:avLst/>
          </a:prstGeom>
          <a:solidFill>
            <a:srgbClr val="000000">
              <a:alpha val="0"/>
            </a:srgbClr>
          </a:solidFill>
        </p:spPr>
      </p:sp>
      <p:sp>
        <p:nvSpPr>
          <p:cNvPr name="TextBox 9" id="9"/>
          <p:cNvSpPr txBox="true"/>
          <p:nvPr/>
        </p:nvSpPr>
        <p:spPr>
          <a:xfrm>
            <a:off x="876300" y="6858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FFFFFF"/>
                </a:solidFill>
                <a:latin typeface="Aboreto"/>
              </a:rPr>
              <a:t>System Integration (Phase 04)</a:t>
            </a:r>
            <a:endParaRPr lang="en-US" sz="1100"/>
          </a:p>
        </p:txBody>
      </p:sp>
      <p:sp>
        <p:nvSpPr>
          <p:cNvPr name="TextBox 10" id="10"/>
          <p:cNvSpPr txBox="true"/>
          <p:nvPr/>
        </p:nvSpPr>
        <p:spPr>
          <a:xfrm>
            <a:off x="876300" y="1574800"/>
            <a:ext cx="144907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Integrated Pipeline Code</a:t>
            </a:r>
            <a:endParaRPr lang="en-US" sz="1100"/>
          </a:p>
        </p:txBody>
      </p:sp>
      <p:sp>
        <p:nvSpPr>
          <p:cNvPr name="TextBox 11" id="11"/>
          <p:cNvSpPr txBox="true"/>
          <p:nvPr/>
        </p:nvSpPr>
        <p:spPr>
          <a:xfrm>
            <a:off x="876300" y="3403600"/>
            <a:ext cx="144907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Gradio UI</a:t>
            </a:r>
            <a:endParaRPr lang="en-US" sz="1100"/>
          </a:p>
        </p:txBody>
      </p:sp>
      <p:sp>
        <p:nvSpPr>
          <p:cNvPr name="TextBox 12" id="12"/>
          <p:cNvSpPr txBox="true"/>
          <p:nvPr/>
        </p:nvSpPr>
        <p:spPr>
          <a:xfrm>
            <a:off x="876300" y="5232400"/>
            <a:ext cx="144907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Working Prototype</a:t>
            </a:r>
            <a:endParaRPr lang="en-US" sz="1100"/>
          </a:p>
        </p:txBody>
      </p:sp>
      <p:sp>
        <p:nvSpPr>
          <p:cNvPr name="TextBox 13" id="13"/>
          <p:cNvSpPr txBox="true"/>
          <p:nvPr/>
        </p:nvSpPr>
        <p:spPr>
          <a:xfrm>
            <a:off x="876300" y="7061200"/>
            <a:ext cx="144907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Google Colab Deployment</a:t>
            </a:r>
            <a:endParaRPr lang="en-US" sz="1100"/>
          </a:p>
        </p:txBody>
      </p:sp>
      <p:sp>
        <p:nvSpPr>
          <p:cNvPr name="TextBox 14" id="14"/>
          <p:cNvSpPr txBox="true"/>
          <p:nvPr/>
        </p:nvSpPr>
        <p:spPr>
          <a:xfrm>
            <a:off x="876300" y="2197100"/>
            <a:ext cx="144907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Combines our retrieval system, embedding model, and LLM into a single Python workflow that runs in Google Colab, managing data flow between each component.</a:t>
            </a:r>
            <a:endParaRPr lang="en-US" sz="1100"/>
          </a:p>
        </p:txBody>
      </p:sp>
      <p:sp>
        <p:nvSpPr>
          <p:cNvPr name="TextBox 15" id="15"/>
          <p:cNvSpPr txBox="true"/>
          <p:nvPr/>
        </p:nvSpPr>
        <p:spPr>
          <a:xfrm>
            <a:off x="876300" y="4025900"/>
            <a:ext cx="144907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Provides a simple, user-friendly web interface where students can ask questions and see answers with citations, all running within the Colab notebook.</a:t>
            </a:r>
            <a:endParaRPr lang="en-US" sz="1100"/>
          </a:p>
        </p:txBody>
      </p:sp>
      <p:sp>
        <p:nvSpPr>
          <p:cNvPr name="TextBox 16" id="16"/>
          <p:cNvSpPr txBox="true"/>
          <p:nvPr/>
        </p:nvSpPr>
        <p:spPr>
          <a:xfrm>
            <a:off x="876300" y="5867400"/>
            <a:ext cx="144907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Demonstrates the complete end-to-end system functioning with real course materials, showing that students can actually use it to get answers to their questions.</a:t>
            </a:r>
            <a:endParaRPr lang="en-US" sz="1100"/>
          </a:p>
        </p:txBody>
      </p:sp>
      <p:sp>
        <p:nvSpPr>
          <p:cNvPr name="TextBox 17" id="17"/>
          <p:cNvSpPr txBox="true"/>
          <p:nvPr/>
        </p:nvSpPr>
        <p:spPr>
          <a:xfrm>
            <a:off x="876300" y="7696200"/>
            <a:ext cx="14490700" cy="749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The entire prototype runs in a free Google Colab notebook, making it accessible and easy to share with course instructors and other students.</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3149600"/>
            <a:ext cx="14490700" cy="3721100"/>
          </a:xfrm>
          <a:prstGeom prst="rect">
            <a:avLst/>
          </a:prstGeom>
          <a:solidFill>
            <a:srgbClr val="000000">
              <a:alpha val="0"/>
            </a:srgbClr>
          </a:solidFill>
        </p:spPr>
      </p:sp>
      <p:sp>
        <p:nvSpPr>
          <p:cNvPr name="AutoShape 5" id="5"/>
          <p:cNvSpPr/>
          <p:nvPr/>
        </p:nvSpPr>
        <p:spPr>
          <a:xfrm>
            <a:off x="876300" y="3898900"/>
            <a:ext cx="4699000" cy="2971800"/>
          </a:xfrm>
          <a:prstGeom prst="rect">
            <a:avLst/>
          </a:prstGeom>
          <a:solidFill>
            <a:srgbClr val="000000">
              <a:alpha val="0"/>
            </a:srgbClr>
          </a:solidFill>
        </p:spPr>
      </p:sp>
      <p:sp>
        <p:nvSpPr>
          <p:cNvPr name="AutoShape 6" id="6"/>
          <p:cNvSpPr/>
          <p:nvPr/>
        </p:nvSpPr>
        <p:spPr>
          <a:xfrm>
            <a:off x="876300" y="3898900"/>
            <a:ext cx="4699000" cy="2971800"/>
          </a:xfrm>
          <a:prstGeom prst="roundRect">
            <a:avLst>
              <a:gd name="adj" fmla="val 2564"/>
            </a:avLst>
          </a:prstGeom>
          <a:solidFill>
            <a:srgbClr val="000000">
              <a:alpha val="0"/>
            </a:srgbClr>
          </a:solidFill>
        </p:spPr>
      </p:sp>
      <p:sp>
        <p:nvSpPr>
          <p:cNvPr name="AutoShape 7" id="7"/>
          <p:cNvSpPr/>
          <p:nvPr/>
        </p:nvSpPr>
        <p:spPr>
          <a:xfrm>
            <a:off x="876300" y="3898900"/>
            <a:ext cx="4699000" cy="241300"/>
          </a:xfrm>
          <a:prstGeom prst="rect">
            <a:avLst/>
          </a:prstGeom>
          <a:solidFill>
            <a:srgbClr val="2A345E"/>
          </a:solidFill>
        </p:spPr>
      </p:sp>
      <p:sp>
        <p:nvSpPr>
          <p:cNvPr name="AutoShape 8" id="8"/>
          <p:cNvSpPr/>
          <p:nvPr/>
        </p:nvSpPr>
        <p:spPr>
          <a:xfrm>
            <a:off x="5765800" y="3517900"/>
            <a:ext cx="4699000" cy="3340100"/>
          </a:xfrm>
          <a:prstGeom prst="rect">
            <a:avLst/>
          </a:prstGeom>
          <a:solidFill>
            <a:srgbClr val="000000">
              <a:alpha val="0"/>
            </a:srgbClr>
          </a:solidFill>
        </p:spPr>
      </p:sp>
      <p:sp>
        <p:nvSpPr>
          <p:cNvPr name="AutoShape 9" id="9"/>
          <p:cNvSpPr/>
          <p:nvPr/>
        </p:nvSpPr>
        <p:spPr>
          <a:xfrm>
            <a:off x="5765800" y="3517900"/>
            <a:ext cx="4699000" cy="3340100"/>
          </a:xfrm>
          <a:prstGeom prst="roundRect">
            <a:avLst>
              <a:gd name="adj" fmla="val 2281"/>
            </a:avLst>
          </a:prstGeom>
          <a:solidFill>
            <a:srgbClr val="000000">
              <a:alpha val="0"/>
            </a:srgbClr>
          </a:solidFill>
        </p:spPr>
      </p:sp>
      <p:sp>
        <p:nvSpPr>
          <p:cNvPr name="AutoShape 10" id="10"/>
          <p:cNvSpPr/>
          <p:nvPr/>
        </p:nvSpPr>
        <p:spPr>
          <a:xfrm>
            <a:off x="5765800" y="3517900"/>
            <a:ext cx="4699000" cy="241300"/>
          </a:xfrm>
          <a:prstGeom prst="rect">
            <a:avLst/>
          </a:prstGeom>
          <a:solidFill>
            <a:srgbClr val="2A345E"/>
          </a:solidFill>
        </p:spPr>
      </p:sp>
      <p:sp>
        <p:nvSpPr>
          <p:cNvPr name="AutoShape 11" id="11"/>
          <p:cNvSpPr/>
          <p:nvPr/>
        </p:nvSpPr>
        <p:spPr>
          <a:xfrm>
            <a:off x="10668000" y="3149600"/>
            <a:ext cx="4699000" cy="3721100"/>
          </a:xfrm>
          <a:prstGeom prst="rect">
            <a:avLst/>
          </a:prstGeom>
          <a:solidFill>
            <a:srgbClr val="000000">
              <a:alpha val="0"/>
            </a:srgbClr>
          </a:solidFill>
        </p:spPr>
      </p:sp>
      <p:sp>
        <p:nvSpPr>
          <p:cNvPr name="AutoShape 12" id="12"/>
          <p:cNvSpPr/>
          <p:nvPr/>
        </p:nvSpPr>
        <p:spPr>
          <a:xfrm>
            <a:off x="10668000" y="3149600"/>
            <a:ext cx="4699000" cy="3721100"/>
          </a:xfrm>
          <a:prstGeom prst="roundRect">
            <a:avLst>
              <a:gd name="adj" fmla="val 2047"/>
            </a:avLst>
          </a:prstGeom>
          <a:solidFill>
            <a:srgbClr val="000000">
              <a:alpha val="0"/>
            </a:srgbClr>
          </a:solidFill>
        </p:spPr>
      </p:sp>
      <p:sp>
        <p:nvSpPr>
          <p:cNvPr name="AutoShape 13" id="13"/>
          <p:cNvSpPr/>
          <p:nvPr/>
        </p:nvSpPr>
        <p:spPr>
          <a:xfrm>
            <a:off x="10668000" y="3149600"/>
            <a:ext cx="4699000" cy="241300"/>
          </a:xfrm>
          <a:prstGeom prst="rect">
            <a:avLst/>
          </a:prstGeom>
          <a:solidFill>
            <a:srgbClr val="2A345E"/>
          </a:solidFill>
        </p:spPr>
      </p:sp>
      <p:sp>
        <p:nvSpPr>
          <p:cNvPr name="TextBox 14" id="14"/>
          <p:cNvSpPr txBox="true"/>
          <p:nvPr/>
        </p:nvSpPr>
        <p:spPr>
          <a:xfrm>
            <a:off x="876300" y="22606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FFFFFF"/>
                </a:solidFill>
                <a:latin typeface="Aboreto"/>
              </a:rPr>
              <a:t>User Guide Summary</a:t>
            </a:r>
            <a:endParaRPr lang="en-US" sz="1100"/>
          </a:p>
        </p:txBody>
      </p:sp>
      <p:sp>
        <p:nvSpPr>
          <p:cNvPr name="TextBox 15" id="15"/>
          <p:cNvSpPr txBox="true"/>
          <p:nvPr/>
        </p:nvSpPr>
        <p:spPr>
          <a:xfrm>
            <a:off x="1130300" y="4406900"/>
            <a:ext cx="4191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1. Ask a Question</a:t>
            </a:r>
            <a:endParaRPr lang="en-US" sz="1100"/>
          </a:p>
        </p:txBody>
      </p:sp>
      <p:sp>
        <p:nvSpPr>
          <p:cNvPr name="TextBox 16" id="16"/>
          <p:cNvSpPr txBox="true"/>
          <p:nvPr/>
        </p:nvSpPr>
        <p:spPr>
          <a:xfrm>
            <a:off x="6019800" y="4025900"/>
            <a:ext cx="4191000" cy="4445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2. System Retrieves</a:t>
            </a:r>
            <a:endParaRPr lang="en-US" sz="1100"/>
          </a:p>
        </p:txBody>
      </p:sp>
      <p:sp>
        <p:nvSpPr>
          <p:cNvPr name="TextBox 17" id="17"/>
          <p:cNvSpPr txBox="true"/>
          <p:nvPr/>
        </p:nvSpPr>
        <p:spPr>
          <a:xfrm>
            <a:off x="10909300" y="3644900"/>
            <a:ext cx="41910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3. Answer with Citations</a:t>
            </a:r>
            <a:endParaRPr lang="en-US" sz="1100"/>
          </a:p>
        </p:txBody>
      </p:sp>
      <p:sp>
        <p:nvSpPr>
          <p:cNvPr name="TextBox 18" id="18"/>
          <p:cNvSpPr txBox="true"/>
          <p:nvPr/>
        </p:nvSpPr>
        <p:spPr>
          <a:xfrm>
            <a:off x="1130300" y="5029200"/>
            <a:ext cx="4191000" cy="15113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Student enters a course-related query into the input box to start the process. The system accepts natural language questions about any course topic.</a:t>
            </a:r>
            <a:endParaRPr lang="en-US" sz="1100"/>
          </a:p>
        </p:txBody>
      </p:sp>
      <p:sp>
        <p:nvSpPr>
          <p:cNvPr name="TextBox 19" id="19"/>
          <p:cNvSpPr txBox="true"/>
          <p:nvPr/>
        </p:nvSpPr>
        <p:spPr>
          <a:xfrm>
            <a:off x="6019800" y="4660900"/>
            <a:ext cx="41910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The RAG pipeline searches through all course materials and re-ranks the most relevant documents to find the best information matching the student's question.</a:t>
            </a:r>
            <a:endParaRPr lang="en-US" sz="1100"/>
          </a:p>
        </p:txBody>
      </p:sp>
      <p:sp>
        <p:nvSpPr>
          <p:cNvPr name="TextBox 20" id="20"/>
          <p:cNvSpPr txBox="true"/>
          <p:nvPr/>
        </p:nvSpPr>
        <p:spPr>
          <a:xfrm>
            <a:off x="10909300" y="4737100"/>
            <a:ext cx="4191000" cy="1879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AI generates a clear answer grounded in the retrieved materials, with full source attribution showing exactly where the information came from in the course content.</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2679700"/>
            <a:ext cx="14490700" cy="4635500"/>
          </a:xfrm>
          <a:prstGeom prst="rect">
            <a:avLst/>
          </a:prstGeom>
          <a:solidFill>
            <a:srgbClr val="000000">
              <a:alpha val="0"/>
            </a:srgbClr>
          </a:solidFill>
        </p:spPr>
      </p:sp>
      <p:sp>
        <p:nvSpPr>
          <p:cNvPr name="AutoShape 5" id="5"/>
          <p:cNvSpPr/>
          <p:nvPr/>
        </p:nvSpPr>
        <p:spPr>
          <a:xfrm>
            <a:off x="876300" y="2679700"/>
            <a:ext cx="3378200" cy="4635500"/>
          </a:xfrm>
          <a:prstGeom prst="rect">
            <a:avLst/>
          </a:prstGeom>
          <a:solidFill>
            <a:srgbClr val="000000">
              <a:alpha val="0"/>
            </a:srgbClr>
          </a:solidFill>
        </p:spPr>
      </p:sp>
      <p:sp>
        <p:nvSpPr>
          <p:cNvPr name="AutoShape 6" id="6"/>
          <p:cNvSpPr/>
          <p:nvPr/>
        </p:nvSpPr>
        <p:spPr>
          <a:xfrm>
            <a:off x="876300" y="2679700"/>
            <a:ext cx="558800" cy="558800"/>
          </a:xfrm>
          <a:prstGeom prst="rect">
            <a:avLst/>
          </a:prstGeom>
          <a:solidFill>
            <a:srgbClr val="2A345E"/>
          </a:solidFill>
        </p:spPr>
      </p:sp>
      <p:sp>
        <p:nvSpPr>
          <p:cNvPr name="AutoShape 7" id="7"/>
          <p:cNvSpPr/>
          <p:nvPr/>
        </p:nvSpPr>
        <p:spPr>
          <a:xfrm>
            <a:off x="4572000" y="2679700"/>
            <a:ext cx="3378200" cy="4635500"/>
          </a:xfrm>
          <a:prstGeom prst="rect">
            <a:avLst/>
          </a:prstGeom>
          <a:solidFill>
            <a:srgbClr val="000000">
              <a:alpha val="0"/>
            </a:srgbClr>
          </a:solidFill>
        </p:spPr>
      </p:sp>
      <p:sp>
        <p:nvSpPr>
          <p:cNvPr name="AutoShape 8" id="8"/>
          <p:cNvSpPr/>
          <p:nvPr/>
        </p:nvSpPr>
        <p:spPr>
          <a:xfrm>
            <a:off x="4572000" y="2679700"/>
            <a:ext cx="558800" cy="558800"/>
          </a:xfrm>
          <a:prstGeom prst="rect">
            <a:avLst/>
          </a:prstGeom>
          <a:solidFill>
            <a:srgbClr val="2A345E"/>
          </a:solidFill>
        </p:spPr>
      </p:sp>
      <p:sp>
        <p:nvSpPr>
          <p:cNvPr name="AutoShape 9" id="9"/>
          <p:cNvSpPr/>
          <p:nvPr/>
        </p:nvSpPr>
        <p:spPr>
          <a:xfrm>
            <a:off x="8280400" y="2679700"/>
            <a:ext cx="3378200" cy="4635500"/>
          </a:xfrm>
          <a:prstGeom prst="rect">
            <a:avLst/>
          </a:prstGeom>
          <a:solidFill>
            <a:srgbClr val="000000">
              <a:alpha val="0"/>
            </a:srgbClr>
          </a:solidFill>
        </p:spPr>
      </p:sp>
      <p:sp>
        <p:nvSpPr>
          <p:cNvPr name="AutoShape 10" id="10"/>
          <p:cNvSpPr/>
          <p:nvPr/>
        </p:nvSpPr>
        <p:spPr>
          <a:xfrm>
            <a:off x="8280400" y="2679700"/>
            <a:ext cx="558800" cy="558800"/>
          </a:xfrm>
          <a:prstGeom prst="rect">
            <a:avLst/>
          </a:prstGeom>
          <a:solidFill>
            <a:srgbClr val="2A345E"/>
          </a:solidFill>
        </p:spPr>
      </p:sp>
      <p:sp>
        <p:nvSpPr>
          <p:cNvPr name="AutoShape 11" id="11"/>
          <p:cNvSpPr/>
          <p:nvPr/>
        </p:nvSpPr>
        <p:spPr>
          <a:xfrm>
            <a:off x="11976100" y="2679700"/>
            <a:ext cx="3378200" cy="4635500"/>
          </a:xfrm>
          <a:prstGeom prst="rect">
            <a:avLst/>
          </a:prstGeom>
          <a:solidFill>
            <a:srgbClr val="000000">
              <a:alpha val="0"/>
            </a:srgbClr>
          </a:solidFill>
        </p:spPr>
      </p:sp>
      <p:sp>
        <p:nvSpPr>
          <p:cNvPr name="AutoShape 12" id="12"/>
          <p:cNvSpPr/>
          <p:nvPr/>
        </p:nvSpPr>
        <p:spPr>
          <a:xfrm>
            <a:off x="11976100" y="2679700"/>
            <a:ext cx="558800" cy="558800"/>
          </a:xfrm>
          <a:prstGeom prst="rect">
            <a:avLst/>
          </a:prstGeom>
          <a:solidFill>
            <a:srgbClr val="2A345E"/>
          </a:solidFill>
        </p:spPr>
      </p:sp>
      <p:sp>
        <p:nvSpPr>
          <p:cNvPr name="TextBox 13" id="13"/>
          <p:cNvSpPr txBox="true"/>
          <p:nvPr/>
        </p:nvSpPr>
        <p:spPr>
          <a:xfrm>
            <a:off x="876300" y="18034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FFFFFF"/>
                </a:solidFill>
                <a:latin typeface="Aboreto"/>
              </a:rPr>
              <a:t>Limitations</a:t>
            </a:r>
            <a:endParaRPr lang="en-US" sz="1100"/>
          </a:p>
        </p:txBody>
      </p:sp>
      <p:sp>
        <p:nvSpPr>
          <p:cNvPr name="TextBox 14" id="14"/>
          <p:cNvSpPr txBox="true"/>
          <p:nvPr/>
        </p:nvSpPr>
        <p:spPr>
          <a:xfrm>
            <a:off x="1092200" y="27813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FFFFFF"/>
                </a:solidFill>
                <a:highlight>
                  <a:srgbClr val="000000">
                    <a:alpha val="0"/>
                  </a:srgbClr>
                </a:highlight>
                <a:latin typeface="Aboreto"/>
              </a:rPr>
              <a:t>1</a:t>
            </a:r>
            <a:endParaRPr lang="en-US" sz="1100"/>
          </a:p>
        </p:txBody>
      </p:sp>
      <p:sp>
        <p:nvSpPr>
          <p:cNvPr name="TextBox 15" id="15"/>
          <p:cNvSpPr txBox="true"/>
          <p:nvPr/>
        </p:nvSpPr>
        <p:spPr>
          <a:xfrm>
            <a:off x="1689100" y="2768600"/>
            <a:ext cx="2565400" cy="1358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Dataset Constraints</a:t>
            </a:r>
            <a:endParaRPr lang="en-US" sz="1100"/>
          </a:p>
        </p:txBody>
      </p:sp>
      <p:sp>
        <p:nvSpPr>
          <p:cNvPr name="TextBox 16" id="16"/>
          <p:cNvSpPr txBox="true"/>
          <p:nvPr/>
        </p:nvSpPr>
        <p:spPr>
          <a:xfrm>
            <a:off x="4775200" y="27813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FFFFFF"/>
                </a:solidFill>
                <a:highlight>
                  <a:srgbClr val="000000">
                    <a:alpha val="0"/>
                  </a:srgbClr>
                </a:highlight>
                <a:latin typeface="Aboreto"/>
              </a:rPr>
              <a:t>2</a:t>
            </a:r>
            <a:endParaRPr lang="en-US" sz="1100"/>
          </a:p>
        </p:txBody>
      </p:sp>
      <p:sp>
        <p:nvSpPr>
          <p:cNvPr name="TextBox 17" id="17"/>
          <p:cNvSpPr txBox="true"/>
          <p:nvPr/>
        </p:nvSpPr>
        <p:spPr>
          <a:xfrm>
            <a:off x="5397500" y="2768600"/>
            <a:ext cx="25654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LLM Dependency</a:t>
            </a:r>
            <a:endParaRPr lang="en-US" sz="1100"/>
          </a:p>
        </p:txBody>
      </p:sp>
      <p:sp>
        <p:nvSpPr>
          <p:cNvPr name="TextBox 18" id="18"/>
          <p:cNvSpPr txBox="true"/>
          <p:nvPr/>
        </p:nvSpPr>
        <p:spPr>
          <a:xfrm>
            <a:off x="8483600" y="27813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FFFFFF"/>
                </a:solidFill>
                <a:highlight>
                  <a:srgbClr val="000000">
                    <a:alpha val="0"/>
                  </a:srgbClr>
                </a:highlight>
                <a:latin typeface="Aboreto"/>
              </a:rPr>
              <a:t>3</a:t>
            </a:r>
            <a:endParaRPr lang="en-US" sz="1100"/>
          </a:p>
        </p:txBody>
      </p:sp>
      <p:sp>
        <p:nvSpPr>
          <p:cNvPr name="TextBox 19" id="19"/>
          <p:cNvSpPr txBox="true"/>
          <p:nvPr/>
        </p:nvSpPr>
        <p:spPr>
          <a:xfrm>
            <a:off x="9093200" y="2768600"/>
            <a:ext cx="2565400" cy="901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Context Window</a:t>
            </a:r>
            <a:endParaRPr lang="en-US" sz="1100"/>
          </a:p>
        </p:txBody>
      </p:sp>
      <p:sp>
        <p:nvSpPr>
          <p:cNvPr name="TextBox 20" id="20"/>
          <p:cNvSpPr txBox="true"/>
          <p:nvPr/>
        </p:nvSpPr>
        <p:spPr>
          <a:xfrm>
            <a:off x="12179300" y="2781300"/>
            <a:ext cx="304800" cy="3683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400" b="true">
                <a:solidFill>
                  <a:srgbClr val="FFFFFF"/>
                </a:solidFill>
                <a:highlight>
                  <a:srgbClr val="000000">
                    <a:alpha val="0"/>
                  </a:srgbClr>
                </a:highlight>
                <a:latin typeface="Aboreto"/>
              </a:rPr>
              <a:t>4</a:t>
            </a:r>
            <a:endParaRPr lang="en-US" sz="1100"/>
          </a:p>
        </p:txBody>
      </p:sp>
      <p:sp>
        <p:nvSpPr>
          <p:cNvPr name="TextBox 21" id="21"/>
          <p:cNvSpPr txBox="true"/>
          <p:nvPr/>
        </p:nvSpPr>
        <p:spPr>
          <a:xfrm>
            <a:off x="12801600" y="2768600"/>
            <a:ext cx="2565400" cy="1358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900" b="true">
                <a:solidFill>
                  <a:srgbClr val="FFFFFF"/>
                </a:solidFill>
                <a:latin typeface="Aboreto"/>
              </a:rPr>
              <a:t>Performance Tradeoffs</a:t>
            </a:r>
            <a:endParaRPr lang="en-US" sz="1100"/>
          </a:p>
        </p:txBody>
      </p:sp>
      <p:sp>
        <p:nvSpPr>
          <p:cNvPr name="TextBox 22" id="22"/>
          <p:cNvSpPr txBox="true"/>
          <p:nvPr/>
        </p:nvSpPr>
        <p:spPr>
          <a:xfrm>
            <a:off x="1689100" y="4305300"/>
            <a:ext cx="2565400" cy="2260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The system is limited to provided course materials only, which may restrict the breadth of knowledge available for certain queries.</a:t>
            </a:r>
            <a:endParaRPr lang="en-US" sz="1100"/>
          </a:p>
        </p:txBody>
      </p:sp>
      <p:sp>
        <p:nvSpPr>
          <p:cNvPr name="TextBox 23" id="23"/>
          <p:cNvSpPr txBox="true"/>
          <p:nvPr/>
        </p:nvSpPr>
        <p:spPr>
          <a:xfrm>
            <a:off x="5397500" y="3860800"/>
            <a:ext cx="2565400" cy="3022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System reliability is inherently tied to the quality and capabilities of the underlying large language model, which may have inherent biases or knowledge gaps.</a:t>
            </a:r>
            <a:endParaRPr lang="en-US" sz="1100"/>
          </a:p>
        </p:txBody>
      </p:sp>
      <p:sp>
        <p:nvSpPr>
          <p:cNvPr name="TextBox 24" id="24"/>
          <p:cNvSpPr txBox="true"/>
          <p:nvPr/>
        </p:nvSpPr>
        <p:spPr>
          <a:xfrm>
            <a:off x="9093200" y="3860800"/>
            <a:ext cx="2565400" cy="2641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The maximum tokens per request limitation affects answer length and the system's ability to maintain extended contextual conversations.</a:t>
            </a:r>
            <a:endParaRPr lang="en-US" sz="1100"/>
          </a:p>
        </p:txBody>
      </p:sp>
      <p:sp>
        <p:nvSpPr>
          <p:cNvPr name="TextBox 25" id="25"/>
          <p:cNvSpPr txBox="true"/>
          <p:nvPr/>
        </p:nvSpPr>
        <p:spPr>
          <a:xfrm>
            <a:off x="12801600" y="4305300"/>
            <a:ext cx="2565400" cy="3022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Design choices balance speed versus accuracy considerations, meaning some responses may prioritize efficiency over depth when appropriate.</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AutoShape 4" id="4"/>
          <p:cNvSpPr/>
          <p:nvPr/>
        </p:nvSpPr>
        <p:spPr>
          <a:xfrm>
            <a:off x="876300" y="1130300"/>
            <a:ext cx="14490700" cy="7505700"/>
          </a:xfrm>
          <a:prstGeom prst="rect">
            <a:avLst/>
          </a:prstGeom>
          <a:solidFill>
            <a:srgbClr val="000000">
              <a:alpha val="0"/>
            </a:srgbClr>
          </a:solidFill>
        </p:spPr>
      </p:sp>
      <p:sp>
        <p:nvSpPr>
          <p:cNvPr name="AutoShape 5" id="5"/>
          <p:cNvSpPr/>
          <p:nvPr/>
        </p:nvSpPr>
        <p:spPr>
          <a:xfrm>
            <a:off x="876300" y="1130300"/>
            <a:ext cx="3429000" cy="3797300"/>
          </a:xfrm>
          <a:prstGeom prst="rect">
            <a:avLst/>
          </a:prstGeom>
          <a:solidFill>
            <a:srgbClr val="2A345E">
              <a:alpha val="66667"/>
            </a:srgbClr>
          </a:solidFill>
        </p:spPr>
      </p:sp>
      <p:sp>
        <p:nvSpPr>
          <p:cNvPr name="AutoShape 6" id="6"/>
          <p:cNvSpPr/>
          <p:nvPr/>
        </p:nvSpPr>
        <p:spPr>
          <a:xfrm>
            <a:off x="1231900" y="1308100"/>
            <a:ext cx="533400" cy="533400"/>
          </a:xfrm>
          <a:prstGeom prst="roundRect">
            <a:avLst>
              <a:gd name="adj" fmla="val 50000"/>
            </a:avLst>
          </a:prstGeom>
          <a:solidFill>
            <a:srgbClr val="4E37C1"/>
          </a:solidFill>
        </p:spPr>
      </p:sp>
      <p:sp>
        <p:nvSpPr>
          <p:cNvPr name="AutoShape 7" id="7"/>
          <p:cNvSpPr/>
          <p:nvPr/>
        </p:nvSpPr>
        <p:spPr>
          <a:xfrm>
            <a:off x="4559300" y="1130300"/>
            <a:ext cx="3429000" cy="3797300"/>
          </a:xfrm>
          <a:prstGeom prst="rect">
            <a:avLst/>
          </a:prstGeom>
          <a:solidFill>
            <a:srgbClr val="2A345E">
              <a:alpha val="66667"/>
            </a:srgbClr>
          </a:solidFill>
        </p:spPr>
      </p:sp>
      <p:sp>
        <p:nvSpPr>
          <p:cNvPr name="AutoShape 8" id="8"/>
          <p:cNvSpPr/>
          <p:nvPr/>
        </p:nvSpPr>
        <p:spPr>
          <a:xfrm>
            <a:off x="4914900" y="1308100"/>
            <a:ext cx="533400" cy="533400"/>
          </a:xfrm>
          <a:prstGeom prst="roundRect">
            <a:avLst>
              <a:gd name="adj" fmla="val 50000"/>
            </a:avLst>
          </a:prstGeom>
          <a:solidFill>
            <a:srgbClr val="4E37C1"/>
          </a:solidFill>
        </p:spPr>
      </p:sp>
      <p:sp>
        <p:nvSpPr>
          <p:cNvPr name="AutoShape 9" id="9"/>
          <p:cNvSpPr/>
          <p:nvPr/>
        </p:nvSpPr>
        <p:spPr>
          <a:xfrm>
            <a:off x="8242300" y="1130300"/>
            <a:ext cx="3429000" cy="3797300"/>
          </a:xfrm>
          <a:prstGeom prst="rect">
            <a:avLst/>
          </a:prstGeom>
          <a:solidFill>
            <a:srgbClr val="2A345E">
              <a:alpha val="66667"/>
            </a:srgbClr>
          </a:solidFill>
        </p:spPr>
      </p:sp>
      <p:sp>
        <p:nvSpPr>
          <p:cNvPr name="AutoShape 10" id="10"/>
          <p:cNvSpPr/>
          <p:nvPr/>
        </p:nvSpPr>
        <p:spPr>
          <a:xfrm>
            <a:off x="8610600" y="1308100"/>
            <a:ext cx="533400" cy="533400"/>
          </a:xfrm>
          <a:prstGeom prst="roundRect">
            <a:avLst>
              <a:gd name="adj" fmla="val 50000"/>
            </a:avLst>
          </a:prstGeom>
          <a:solidFill>
            <a:srgbClr val="4E37C1"/>
          </a:solidFill>
        </p:spPr>
      </p:sp>
      <p:sp>
        <p:nvSpPr>
          <p:cNvPr name="AutoShape 11" id="11"/>
          <p:cNvSpPr/>
          <p:nvPr/>
        </p:nvSpPr>
        <p:spPr>
          <a:xfrm>
            <a:off x="11938000" y="1130300"/>
            <a:ext cx="3429000" cy="3797300"/>
          </a:xfrm>
          <a:prstGeom prst="rect">
            <a:avLst/>
          </a:prstGeom>
          <a:solidFill>
            <a:srgbClr val="2A345E">
              <a:alpha val="66667"/>
            </a:srgbClr>
          </a:solidFill>
        </p:spPr>
      </p:sp>
      <p:sp>
        <p:nvSpPr>
          <p:cNvPr name="AutoShape 12" id="12"/>
          <p:cNvSpPr/>
          <p:nvPr/>
        </p:nvSpPr>
        <p:spPr>
          <a:xfrm>
            <a:off x="12293600" y="1308100"/>
            <a:ext cx="533400" cy="533400"/>
          </a:xfrm>
          <a:prstGeom prst="roundRect">
            <a:avLst>
              <a:gd name="adj" fmla="val 50000"/>
            </a:avLst>
          </a:prstGeom>
          <a:solidFill>
            <a:srgbClr val="4E37C1"/>
          </a:solidFill>
        </p:spPr>
      </p:sp>
      <p:sp>
        <p:nvSpPr>
          <p:cNvPr name="AutoShape 13" id="13"/>
          <p:cNvSpPr/>
          <p:nvPr/>
        </p:nvSpPr>
        <p:spPr>
          <a:xfrm>
            <a:off x="876300" y="5105400"/>
            <a:ext cx="3429000" cy="3530600"/>
          </a:xfrm>
          <a:prstGeom prst="rect">
            <a:avLst/>
          </a:prstGeom>
          <a:solidFill>
            <a:srgbClr val="2A345E">
              <a:alpha val="66667"/>
            </a:srgbClr>
          </a:solidFill>
        </p:spPr>
      </p:sp>
      <p:sp>
        <p:nvSpPr>
          <p:cNvPr name="AutoShape 14" id="14"/>
          <p:cNvSpPr/>
          <p:nvPr/>
        </p:nvSpPr>
        <p:spPr>
          <a:xfrm>
            <a:off x="1231900" y="5283200"/>
            <a:ext cx="533400" cy="533400"/>
          </a:xfrm>
          <a:prstGeom prst="roundRect">
            <a:avLst>
              <a:gd name="adj" fmla="val 50000"/>
            </a:avLst>
          </a:prstGeom>
          <a:solidFill>
            <a:srgbClr val="4E37C1"/>
          </a:solidFill>
        </p:spPr>
      </p:sp>
      <p:sp>
        <p:nvSpPr>
          <p:cNvPr name="AutoShape 15" id="15"/>
          <p:cNvSpPr/>
          <p:nvPr/>
        </p:nvSpPr>
        <p:spPr>
          <a:xfrm>
            <a:off x="4559300" y="5105400"/>
            <a:ext cx="3429000" cy="3530600"/>
          </a:xfrm>
          <a:prstGeom prst="rect">
            <a:avLst/>
          </a:prstGeom>
          <a:solidFill>
            <a:srgbClr val="2A345E">
              <a:alpha val="66667"/>
            </a:srgbClr>
          </a:solidFill>
        </p:spPr>
      </p:sp>
      <p:sp>
        <p:nvSpPr>
          <p:cNvPr name="AutoShape 16" id="16"/>
          <p:cNvSpPr/>
          <p:nvPr/>
        </p:nvSpPr>
        <p:spPr>
          <a:xfrm>
            <a:off x="4914900" y="5283200"/>
            <a:ext cx="533400" cy="533400"/>
          </a:xfrm>
          <a:prstGeom prst="roundRect">
            <a:avLst>
              <a:gd name="adj" fmla="val 50000"/>
            </a:avLst>
          </a:prstGeom>
          <a:solidFill>
            <a:srgbClr val="4E37C1"/>
          </a:solidFill>
        </p:spPr>
      </p:sp>
      <p:sp>
        <p:nvSpPr>
          <p:cNvPr name="AutoShape 17" id="17"/>
          <p:cNvSpPr/>
          <p:nvPr/>
        </p:nvSpPr>
        <p:spPr>
          <a:xfrm>
            <a:off x="8242300" y="5105400"/>
            <a:ext cx="3429000" cy="3530600"/>
          </a:xfrm>
          <a:prstGeom prst="rect">
            <a:avLst/>
          </a:prstGeom>
          <a:solidFill>
            <a:srgbClr val="2A345E">
              <a:alpha val="66667"/>
            </a:srgbClr>
          </a:solidFill>
        </p:spPr>
      </p:sp>
      <p:sp>
        <p:nvSpPr>
          <p:cNvPr name="AutoShape 18" id="18"/>
          <p:cNvSpPr/>
          <p:nvPr/>
        </p:nvSpPr>
        <p:spPr>
          <a:xfrm>
            <a:off x="8610600" y="5283200"/>
            <a:ext cx="533400" cy="533400"/>
          </a:xfrm>
          <a:prstGeom prst="roundRect">
            <a:avLst>
              <a:gd name="adj" fmla="val 50000"/>
            </a:avLst>
          </a:prstGeom>
          <a:solidFill>
            <a:srgbClr val="4E37C1"/>
          </a:solidFill>
        </p:spPr>
      </p:sp>
      <p:sp>
        <p:nvSpPr>
          <p:cNvPr name="AutoShape 19" id="19"/>
          <p:cNvSpPr/>
          <p:nvPr/>
        </p:nvSpPr>
        <p:spPr>
          <a:xfrm>
            <a:off x="11938000" y="5105400"/>
            <a:ext cx="3429000" cy="3530600"/>
          </a:xfrm>
          <a:prstGeom prst="rect">
            <a:avLst/>
          </a:prstGeom>
          <a:solidFill>
            <a:srgbClr val="2A345E">
              <a:alpha val="66667"/>
            </a:srgbClr>
          </a:solidFill>
        </p:spPr>
      </p:sp>
      <p:sp>
        <p:nvSpPr>
          <p:cNvPr name="AutoShape 20" id="20"/>
          <p:cNvSpPr/>
          <p:nvPr/>
        </p:nvSpPr>
        <p:spPr>
          <a:xfrm>
            <a:off x="12293600" y="5283200"/>
            <a:ext cx="533400" cy="533400"/>
          </a:xfrm>
          <a:prstGeom prst="roundRect">
            <a:avLst>
              <a:gd name="adj" fmla="val 50000"/>
            </a:avLst>
          </a:prstGeom>
          <a:solidFill>
            <a:srgbClr val="4E37C1"/>
          </a:solidFill>
        </p:spPr>
      </p:sp>
      <p:sp>
        <p:nvSpPr>
          <p:cNvPr name="TextBox 21" id="21"/>
          <p:cNvSpPr txBox="true"/>
          <p:nvPr/>
        </p:nvSpPr>
        <p:spPr>
          <a:xfrm>
            <a:off x="876300" y="495300"/>
            <a:ext cx="14490700" cy="4318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800" b="true">
                <a:solidFill>
                  <a:srgbClr val="FFFFFF"/>
                </a:solidFill>
                <a:latin typeface="Aboreto"/>
              </a:rPr>
              <a:t>Future Improvements</a:t>
            </a:r>
            <a:endParaRPr lang="en-US" sz="1100"/>
          </a:p>
        </p:txBody>
      </p:sp>
      <p:sp>
        <p:nvSpPr>
          <p:cNvPr name="TextBox 22" id="22"/>
          <p:cNvSpPr txBox="true"/>
          <p:nvPr/>
        </p:nvSpPr>
        <p:spPr>
          <a:xfrm>
            <a:off x="1130300" y="2032000"/>
            <a:ext cx="2921000" cy="647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100" b="true">
                <a:solidFill>
                  <a:srgbClr val="FFFFFF"/>
                </a:solidFill>
                <a:latin typeface="Aboreto"/>
              </a:rPr>
              <a:t>Multi-Course Support</a:t>
            </a:r>
            <a:endParaRPr lang="en-US" sz="1100"/>
          </a:p>
        </p:txBody>
      </p:sp>
      <p:sp>
        <p:nvSpPr>
          <p:cNvPr name="TextBox 23" id="23"/>
          <p:cNvSpPr txBox="true"/>
          <p:nvPr/>
        </p:nvSpPr>
        <p:spPr>
          <a:xfrm>
            <a:off x="4813300" y="2032000"/>
            <a:ext cx="2921000" cy="9652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100" b="true">
                <a:solidFill>
                  <a:srgbClr val="FFFFFF"/>
                </a:solidFill>
                <a:latin typeface="Aboreto"/>
              </a:rPr>
              <a:t>PDF Extraction Upgrades</a:t>
            </a:r>
            <a:endParaRPr lang="en-US" sz="1100"/>
          </a:p>
        </p:txBody>
      </p:sp>
      <p:sp>
        <p:nvSpPr>
          <p:cNvPr name="TextBox 24" id="24"/>
          <p:cNvSpPr txBox="true"/>
          <p:nvPr/>
        </p:nvSpPr>
        <p:spPr>
          <a:xfrm>
            <a:off x="8496300" y="2032000"/>
            <a:ext cx="2921000" cy="647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100" b="true">
                <a:solidFill>
                  <a:srgbClr val="FFFFFF"/>
                </a:solidFill>
                <a:latin typeface="Aboreto"/>
              </a:rPr>
              <a:t>Advanced Re-Ranking</a:t>
            </a:r>
            <a:endParaRPr lang="en-US" sz="1100"/>
          </a:p>
        </p:txBody>
      </p:sp>
      <p:sp>
        <p:nvSpPr>
          <p:cNvPr name="TextBox 25" id="25"/>
          <p:cNvSpPr txBox="true"/>
          <p:nvPr/>
        </p:nvSpPr>
        <p:spPr>
          <a:xfrm>
            <a:off x="12179300" y="2032000"/>
            <a:ext cx="2921000" cy="9652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100" b="true">
                <a:solidFill>
                  <a:srgbClr val="FFFFFF"/>
                </a:solidFill>
                <a:latin typeface="Aboreto"/>
              </a:rPr>
              <a:t>Real-Time Student Analytics</a:t>
            </a:r>
            <a:endParaRPr lang="en-US" sz="1100"/>
          </a:p>
        </p:txBody>
      </p:sp>
      <p:sp>
        <p:nvSpPr>
          <p:cNvPr name="TextBox 26" id="26"/>
          <p:cNvSpPr txBox="true"/>
          <p:nvPr/>
        </p:nvSpPr>
        <p:spPr>
          <a:xfrm>
            <a:off x="1130300" y="6007100"/>
            <a:ext cx="2921000" cy="647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100" b="true">
                <a:solidFill>
                  <a:srgbClr val="FFFFFF"/>
                </a:solidFill>
                <a:latin typeface="Aboreto"/>
              </a:rPr>
              <a:t>LMS Integration</a:t>
            </a:r>
            <a:endParaRPr lang="en-US" sz="1100"/>
          </a:p>
        </p:txBody>
      </p:sp>
      <p:sp>
        <p:nvSpPr>
          <p:cNvPr name="TextBox 27" id="27"/>
          <p:cNvSpPr txBox="true"/>
          <p:nvPr/>
        </p:nvSpPr>
        <p:spPr>
          <a:xfrm>
            <a:off x="4813300" y="6007100"/>
            <a:ext cx="2921000" cy="9652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100" b="true">
                <a:solidFill>
                  <a:srgbClr val="FFFFFF"/>
                </a:solidFill>
                <a:latin typeface="Aboreto"/>
              </a:rPr>
              <a:t>Enhanced Embedding Models</a:t>
            </a:r>
            <a:endParaRPr lang="en-US" sz="1100"/>
          </a:p>
        </p:txBody>
      </p:sp>
      <p:sp>
        <p:nvSpPr>
          <p:cNvPr name="TextBox 28" id="28"/>
          <p:cNvSpPr txBox="true"/>
          <p:nvPr/>
        </p:nvSpPr>
        <p:spPr>
          <a:xfrm>
            <a:off x="8496300" y="6007100"/>
            <a:ext cx="2921000" cy="9652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100" b="true">
                <a:solidFill>
                  <a:srgbClr val="FFFFFF"/>
                </a:solidFill>
                <a:latin typeface="Aboreto"/>
              </a:rPr>
              <a:t>Scalable Infrastructure</a:t>
            </a:r>
            <a:endParaRPr lang="en-US" sz="1100"/>
          </a:p>
        </p:txBody>
      </p:sp>
      <p:sp>
        <p:nvSpPr>
          <p:cNvPr name="TextBox 29" id="29"/>
          <p:cNvSpPr txBox="true"/>
          <p:nvPr/>
        </p:nvSpPr>
        <p:spPr>
          <a:xfrm>
            <a:off x="12179300" y="6007100"/>
            <a:ext cx="2921000" cy="6477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2100" b="true">
                <a:solidFill>
                  <a:srgbClr val="FFFFFF"/>
                </a:solidFill>
                <a:latin typeface="Aboreto"/>
              </a:rPr>
              <a:t>Multi-Agent Verification</a:t>
            </a:r>
            <a:endParaRPr lang="en-US" sz="1100"/>
          </a:p>
        </p:txBody>
      </p:sp>
      <p:sp>
        <p:nvSpPr>
          <p:cNvPr name="TextBox 30" id="30"/>
          <p:cNvSpPr txBox="true"/>
          <p:nvPr/>
        </p:nvSpPr>
        <p:spPr>
          <a:xfrm>
            <a:off x="1130300" y="2806700"/>
            <a:ext cx="2921000" cy="16129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400" b="true">
                <a:solidFill>
                  <a:srgbClr val="FFFFFF"/>
                </a:solidFill>
                <a:latin typeface="&quot;Titillium Web&quot;"/>
              </a:rPr>
              <a:t>Extend the system to handle multiple courses, allowing different departments to use their own course materials independently.</a:t>
            </a:r>
            <a:endParaRPr lang="en-US" sz="1100"/>
          </a:p>
        </p:txBody>
      </p:sp>
      <p:sp>
        <p:nvSpPr>
          <p:cNvPr name="TextBox 31" id="31"/>
          <p:cNvSpPr txBox="true"/>
          <p:nvPr/>
        </p:nvSpPr>
        <p:spPr>
          <a:xfrm>
            <a:off x="4813300" y="3124200"/>
            <a:ext cx="2921000" cy="16129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400" b="true">
                <a:solidFill>
                  <a:srgbClr val="FFFFFF"/>
                </a:solidFill>
                <a:latin typeface="&quot;Titillium Web&quot;"/>
              </a:rPr>
              <a:t>Improve how we parse PDF documents to better handle complex formatting, tables, equations, and diagrams from course materials.</a:t>
            </a:r>
            <a:endParaRPr lang="en-US" sz="1100"/>
          </a:p>
        </p:txBody>
      </p:sp>
      <p:sp>
        <p:nvSpPr>
          <p:cNvPr name="TextBox 32" id="32"/>
          <p:cNvSpPr txBox="true"/>
          <p:nvPr/>
        </p:nvSpPr>
        <p:spPr>
          <a:xfrm>
            <a:off x="8496300" y="2806700"/>
            <a:ext cx="2921000" cy="13462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400" b="true">
                <a:solidFill>
                  <a:srgbClr val="FFFFFF"/>
                </a:solidFill>
                <a:latin typeface="&quot;Titillium Web&quot;"/>
              </a:rPr>
              <a:t>Implement a cross-encoder model to further refine search results and improve accuracy before passing to the LLM.</a:t>
            </a:r>
            <a:endParaRPr lang="en-US" sz="1100"/>
          </a:p>
        </p:txBody>
      </p:sp>
      <p:sp>
        <p:nvSpPr>
          <p:cNvPr name="TextBox 33" id="33"/>
          <p:cNvSpPr txBox="true"/>
          <p:nvPr/>
        </p:nvSpPr>
        <p:spPr>
          <a:xfrm>
            <a:off x="12179300" y="3124200"/>
            <a:ext cx="2921000" cy="13462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400" b="true">
                <a:solidFill>
                  <a:srgbClr val="FFFFFF"/>
                </a:solidFill>
                <a:latin typeface="&quot;Titillium Web&quot;"/>
              </a:rPr>
              <a:t>Add instructor dashboards showing common student questions, learning patterns, and knowledge gaps to inform teaching.</a:t>
            </a:r>
            <a:endParaRPr lang="en-US" sz="1100"/>
          </a:p>
        </p:txBody>
      </p:sp>
      <p:sp>
        <p:nvSpPr>
          <p:cNvPr name="TextBox 34" id="34"/>
          <p:cNvSpPr txBox="true"/>
          <p:nvPr/>
        </p:nvSpPr>
        <p:spPr>
          <a:xfrm>
            <a:off x="1130300" y="6781800"/>
            <a:ext cx="2921000" cy="10795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400" b="true">
                <a:solidFill>
                  <a:srgbClr val="FFFFFF"/>
                </a:solidFill>
                <a:latin typeface="&quot;Titillium Web&quot;"/>
              </a:rPr>
              <a:t>Connect with Canvas or Blackboard so the tool works seamlessly within existing course platforms.</a:t>
            </a:r>
            <a:endParaRPr lang="en-US" sz="1100"/>
          </a:p>
        </p:txBody>
      </p:sp>
      <p:sp>
        <p:nvSpPr>
          <p:cNvPr name="TextBox 35" id="35"/>
          <p:cNvSpPr txBox="true"/>
          <p:nvPr/>
        </p:nvSpPr>
        <p:spPr>
          <a:xfrm>
            <a:off x="4813300" y="7112000"/>
            <a:ext cx="2921000" cy="10795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400" b="true">
                <a:solidFill>
                  <a:srgbClr val="FFFFFF"/>
                </a:solidFill>
                <a:latin typeface="&quot;Titillium Web&quot;"/>
              </a:rPr>
              <a:t>Explore newer embedding models designed specifically for academic or domain-specific content.</a:t>
            </a:r>
            <a:endParaRPr lang="en-US" sz="1100"/>
          </a:p>
        </p:txBody>
      </p:sp>
      <p:sp>
        <p:nvSpPr>
          <p:cNvPr name="TextBox 36" id="36"/>
          <p:cNvSpPr txBox="true"/>
          <p:nvPr/>
        </p:nvSpPr>
        <p:spPr>
          <a:xfrm>
            <a:off x="8496300" y="7112000"/>
            <a:ext cx="2921000" cy="13462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400" b="true">
                <a:solidFill>
                  <a:srgbClr val="FFFFFF"/>
                </a:solidFill>
                <a:latin typeface="&quot;Titillium Web&quot;"/>
              </a:rPr>
              <a:t>Implement containerization, load balancing, and monitoring for deployment at institutional scale.</a:t>
            </a:r>
            <a:endParaRPr lang="en-US" sz="1100"/>
          </a:p>
        </p:txBody>
      </p:sp>
      <p:sp>
        <p:nvSpPr>
          <p:cNvPr name="TextBox 37" id="37"/>
          <p:cNvSpPr txBox="true"/>
          <p:nvPr/>
        </p:nvSpPr>
        <p:spPr>
          <a:xfrm>
            <a:off x="12179300" y="6781800"/>
            <a:ext cx="2921000" cy="10795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400" b="true">
                <a:solidFill>
                  <a:srgbClr val="FFFFFF"/>
                </a:solidFill>
                <a:latin typeface="&quot;Titillium Web&quot;"/>
              </a:rPr>
              <a:t>Add additional verification models to cross-check factual claims and reduce hallucination further.</a:t>
            </a:r>
            <a:endParaRPr lang="en-US" sz="1100"/>
          </a:p>
        </p:txBody>
      </p:sp>
      <p:pic>
        <p:nvPicPr>
          <p:cNvPr name="Picture 38" id="38"/>
          <p:cNvPicPr>
            <a:picLocks noChangeAspect="true"/>
          </p:cNvPicPr>
          <p:nvPr/>
        </p:nvPicPr>
        <p:blipFill>
          <a:blip r:embed="rId3"/>
          <a:srcRect t="19000" b="19000"/>
          <a:stretch>
            <a:fillRect/>
          </a:stretch>
        </p:blipFill>
        <p:spPr>
          <a:xfrm>
            <a:off x="1358900" y="1485900"/>
            <a:ext cx="279400" cy="177800"/>
          </a:xfrm>
          <a:prstGeom prst="rect">
            <a:avLst/>
          </a:prstGeom>
        </p:spPr>
      </p:pic>
      <p:pic>
        <p:nvPicPr>
          <p:cNvPr name="Picture 39" id="39"/>
          <p:cNvPicPr>
            <a:picLocks noChangeAspect="true"/>
          </p:cNvPicPr>
          <p:nvPr/>
        </p:nvPicPr>
        <p:blipFill>
          <a:blip r:embed="rId4"/>
          <a:srcRect t="14000" b="14000"/>
          <a:stretch>
            <a:fillRect/>
          </a:stretch>
        </p:blipFill>
        <p:spPr>
          <a:xfrm>
            <a:off x="5067300" y="1485900"/>
            <a:ext cx="241300" cy="177800"/>
          </a:xfrm>
          <a:prstGeom prst="rect">
            <a:avLst/>
          </a:prstGeom>
        </p:spPr>
      </p:pic>
      <p:pic>
        <p:nvPicPr>
          <p:cNvPr name="Picture 40" id="40"/>
          <p:cNvPicPr>
            <a:picLocks noChangeAspect="true"/>
          </p:cNvPicPr>
          <p:nvPr/>
        </p:nvPicPr>
        <p:blipFill>
          <a:blip r:embed="rId5"/>
          <a:srcRect t="14000" b="14000"/>
          <a:stretch>
            <a:fillRect/>
          </a:stretch>
        </p:blipFill>
        <p:spPr>
          <a:xfrm>
            <a:off x="8750300" y="1485900"/>
            <a:ext cx="241300" cy="177800"/>
          </a:xfrm>
          <a:prstGeom prst="rect">
            <a:avLst/>
          </a:prstGeom>
        </p:spPr>
      </p:pic>
      <p:pic>
        <p:nvPicPr>
          <p:cNvPr name="Picture 41" id="41"/>
          <p:cNvPicPr>
            <a:picLocks noChangeAspect="true"/>
          </p:cNvPicPr>
          <p:nvPr/>
        </p:nvPicPr>
        <p:blipFill>
          <a:blip r:embed="rId6"/>
          <a:srcRect t="14000" b="14000"/>
          <a:stretch>
            <a:fillRect/>
          </a:stretch>
        </p:blipFill>
        <p:spPr>
          <a:xfrm>
            <a:off x="12433300" y="1485900"/>
            <a:ext cx="241300" cy="177800"/>
          </a:xfrm>
          <a:prstGeom prst="rect">
            <a:avLst/>
          </a:prstGeom>
        </p:spPr>
      </p:pic>
      <p:pic>
        <p:nvPicPr>
          <p:cNvPr name="Picture 42" id="42"/>
          <p:cNvPicPr>
            <a:picLocks noChangeAspect="true"/>
          </p:cNvPicPr>
          <p:nvPr/>
        </p:nvPicPr>
        <p:blipFill>
          <a:blip r:embed="rId7"/>
          <a:srcRect l="0" r="0"/>
          <a:stretch>
            <a:fillRect/>
          </a:stretch>
        </p:blipFill>
        <p:spPr>
          <a:xfrm>
            <a:off x="1409700" y="5473700"/>
            <a:ext cx="177800" cy="177800"/>
          </a:xfrm>
          <a:prstGeom prst="rect">
            <a:avLst/>
          </a:prstGeom>
        </p:spPr>
      </p:pic>
      <p:pic>
        <p:nvPicPr>
          <p:cNvPr name="Picture 43" id="43"/>
          <p:cNvPicPr>
            <a:picLocks noChangeAspect="true"/>
          </p:cNvPicPr>
          <p:nvPr/>
        </p:nvPicPr>
        <p:blipFill>
          <a:blip r:embed="rId8"/>
          <a:srcRect t="14000" b="14000"/>
          <a:stretch>
            <a:fillRect/>
          </a:stretch>
        </p:blipFill>
        <p:spPr>
          <a:xfrm>
            <a:off x="5067300" y="5473700"/>
            <a:ext cx="241300" cy="177800"/>
          </a:xfrm>
          <a:prstGeom prst="rect">
            <a:avLst/>
          </a:prstGeom>
        </p:spPr>
      </p:pic>
      <p:pic>
        <p:nvPicPr>
          <p:cNvPr name="Picture 44" id="44"/>
          <p:cNvPicPr>
            <a:picLocks noChangeAspect="true"/>
          </p:cNvPicPr>
          <p:nvPr/>
        </p:nvPicPr>
        <p:blipFill>
          <a:blip r:embed="rId9"/>
          <a:srcRect t="14000" b="14000"/>
          <a:stretch>
            <a:fillRect/>
          </a:stretch>
        </p:blipFill>
        <p:spPr>
          <a:xfrm>
            <a:off x="8750300" y="5473700"/>
            <a:ext cx="241300" cy="177800"/>
          </a:xfrm>
          <a:prstGeom prst="rect">
            <a:avLst/>
          </a:prstGeom>
        </p:spPr>
      </p:pic>
      <p:pic>
        <p:nvPicPr>
          <p:cNvPr name="Picture 45" id="45"/>
          <p:cNvPicPr>
            <a:picLocks noChangeAspect="true"/>
          </p:cNvPicPr>
          <p:nvPr/>
        </p:nvPicPr>
        <p:blipFill>
          <a:blip r:embed="rId10"/>
          <a:srcRect t="9000" b="9000"/>
          <a:stretch>
            <a:fillRect/>
          </a:stretch>
        </p:blipFill>
        <p:spPr>
          <a:xfrm>
            <a:off x="12458700" y="5473700"/>
            <a:ext cx="215900" cy="177800"/>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0" y="0"/>
            <a:ext cx="16256000" cy="9144000"/>
          </a:xfrm>
          <a:prstGeom prst="rect">
            <a:avLst/>
          </a:prstGeom>
          <a:solidFill>
            <a:srgbClr val="0D0A2C">
              <a:alpha val="74902"/>
            </a:srgbClr>
          </a:solidFill>
        </p:spPr>
      </p:sp>
      <p:pic>
        <p:nvPicPr>
          <p:cNvPr name="Picture 3" id="3"/>
          <p:cNvPicPr>
            <a:picLocks noChangeAspect="true"/>
          </p:cNvPicPr>
          <p:nvPr/>
        </p:nvPicPr>
        <p:blipFill>
          <a:blip r:embed="rId2"/>
          <a:srcRect t="1000" b="1000"/>
          <a:stretch>
            <a:fillRect/>
          </a:stretch>
        </p:blipFill>
        <p:spPr>
          <a:xfrm>
            <a:off x="0" y="0"/>
            <a:ext cx="16256000" cy="9144000"/>
          </a:xfrm>
          <a:prstGeom prst="rect">
            <a:avLst/>
          </a:prstGeom>
        </p:spPr>
      </p:pic>
      <p:sp>
        <p:nvSpPr>
          <p:cNvPr name="TextBox 4" id="4"/>
          <p:cNvSpPr txBox="true"/>
          <p:nvPr/>
        </p:nvSpPr>
        <p:spPr>
          <a:xfrm>
            <a:off x="876300" y="2794000"/>
            <a:ext cx="14490700" cy="596900"/>
          </a:xfrm>
          <a:prstGeom prst="rect">
            <a:avLst/>
          </a:prstGeom>
          <a:solidFill>
            <a:srgbClr val="000000">
              <a:alpha val="0"/>
            </a:srgbClr>
          </a:solidFill>
        </p:spPr>
        <p:txBody>
          <a:bodyPr anchor="ctr" rtlCol="false" rIns="0" lIns="0" tIns="0" bIns="0"/>
          <a:lstStyle/>
          <a:p>
            <a:pPr algn="l" indent="0">
              <a:lnSpc>
                <a:spcPct val="120000"/>
              </a:lnSpc>
              <a:defRPr/>
            </a:pPr>
            <a:r>
              <a:rPr lang="en-US"/>
              <a:t/>
            </a:r>
            <a:r>
              <a:rPr lang="en-US" sz="3900" b="true">
                <a:solidFill>
                  <a:srgbClr val="FFFFFF"/>
                </a:solidFill>
                <a:latin typeface="Aboreto"/>
              </a:rPr>
              <a:t>Conclusion</a:t>
            </a:r>
            <a:endParaRPr lang="en-US" sz="1100"/>
          </a:p>
        </p:txBody>
      </p:sp>
      <p:sp>
        <p:nvSpPr>
          <p:cNvPr name="TextBox 5" id="5"/>
          <p:cNvSpPr txBox="true"/>
          <p:nvPr/>
        </p:nvSpPr>
        <p:spPr>
          <a:xfrm>
            <a:off x="876300" y="3683000"/>
            <a:ext cx="14490700" cy="2641600"/>
          </a:xfrm>
          <a:prstGeom prst="rect">
            <a:avLst/>
          </a:prstGeom>
          <a:solidFill>
            <a:srgbClr val="000000">
              <a:alpha val="0"/>
            </a:srgbClr>
          </a:solidFill>
        </p:spPr>
        <p:txBody>
          <a:bodyPr anchor="ctr" rtlCol="false" rIns="0" lIns="0" tIns="0" bIns="0"/>
          <a:lstStyle/>
          <a:p>
            <a:pPr algn="l" indent="0">
              <a:lnSpc>
                <a:spcPct val="150000"/>
              </a:lnSpc>
              <a:defRPr/>
            </a:pPr>
            <a:r>
              <a:rPr lang="en-US"/>
              <a:t/>
            </a:r>
            <a:r>
              <a:rPr lang="en-US" sz="1900" b="true">
                <a:solidFill>
                  <a:srgbClr val="FFFFFF"/>
                </a:solidFill>
                <a:latin typeface="&quot;Titillium Web&quot;"/>
              </a:rPr>
              <a:t>Deliver a professional closing statement that reinforces the project's core value: AI Course Copilot provides students with reliable assistance by grounding answers in verified course materials. Emphasize that the system demonstrates how retrieval-augmented generation can help students learn more efficiently while maintaining academic integrity by requiring all answers to come from approved sources. Highlight that this prototype shows the potential of AI-assisted learning tools when built responsibly with proper source attribution. Conclude with a forward-looking statement about how this type of tool could benefit students and instructors if further developed and integrated into educational platforms. Keep language inspiring but grounded in what the team actually achieved - a functional MVP that works and could be improved with additional development.</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